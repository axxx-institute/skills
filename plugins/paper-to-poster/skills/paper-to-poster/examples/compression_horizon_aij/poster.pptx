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>
  <p:sldMasterIdLst>
    <p:sldMasterId id="2147483660" r:id="rId1"/>
  </p:sldMasterIdLst>
  <p:notesMasterIdLst>
    <p:notesMasterId r:id="rId3"/>
  </p:notesMasterIdLst>
  <p:sldIdLst>
    <p:sldId id="256" r:id="rId2"/>
  </p:sldIdLst>
  <p:sldSz cx="6858000" cy="9907588"/>
  <p:notesSz cx="6858000" cy="9144000"/>
  <p:embeddedFontLst>
    <p:embeddedFont>
      <p:font typeface="SB Sans Display Light" pitchFamily="34" charset="0"/>
      <p:regular r:id="rId8"/>
    </p:embeddedFont>
    <p:embeddedFont>
      <p:font typeface="SB Sans Display" pitchFamily="34" charset="0"/>
      <p:regular r:id="rId9"/>
      <p:bold r:id="rId11"/>
    </p:embeddedFont>
    <p:embeddedFont>
      <p:font typeface="SB Sans Display Semibold" pitchFamily="34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41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pos="4320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5" orient="horz" pos="218" userDrawn="1">
          <p15:clr>
            <a:srgbClr val="A4A3A4"/>
          </p15:clr>
        </p15:guide>
        <p15:guide id="6" pos="300" userDrawn="1">
          <p15:clr>
            <a:srgbClr val="A4A3A4"/>
          </p15:clr>
        </p15:guide>
        <p15:guide id="7" pos="4020" userDrawn="1">
          <p15:clr>
            <a:srgbClr val="A4A3A4"/>
          </p15:clr>
        </p15:guide>
        <p15:guide id="8" orient="horz" pos="5865" userDrawn="1">
          <p15:clr>
            <a:srgbClr val="A4A3A4"/>
          </p15:clr>
        </p15:guide>
        <p15:guide id="9" orient="horz" pos="898" userDrawn="1">
          <p15:clr>
            <a:srgbClr val="A4A3A4"/>
          </p15:clr>
        </p15:guide>
        <p15:guide id="10" orient="horz" pos="56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D374"/>
    <a:srgbClr val="1D61C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6"/>
    <p:restoredTop sz="94621"/>
  </p:normalViewPr>
  <p:slideViewPr>
    <p:cSldViewPr snapToGrid="0">
      <p:cViewPr varScale="1">
        <p:scale>
          <a:sx n="102" d="100"/>
          <a:sy n="102" d="100"/>
        </p:scale>
        <p:origin x="3352" y="192"/>
      </p:cViewPr>
      <p:guideLst>
        <p:guide orient="horz" pos="6241"/>
        <p:guide/>
        <p:guide pos="4320"/>
        <p:guide orient="horz"/>
        <p:guide orient="horz" pos="218"/>
        <p:guide pos="300"/>
        <p:guide pos="4020"/>
        <p:guide orient="horz" pos="5865"/>
        <p:guide orient="horz" pos="898"/>
        <p:guide orient="horz" pos="56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05C6-37C1-1E4B-B143-C45C93086204}" type="datetimeFigureOut">
              <a:rPr lang="ru-BY" smtClean="0"/>
              <a:t>9/24/26</a:t>
            </a:fld>
            <a:endParaRPr lang="ru-BY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BY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FE46A3-1084-E540-87B6-9BFE76B8D342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0011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FE46A3-1084-E540-87B6-9BFE76B8D342}" type="slidenum">
              <a:rPr lang="ru-BY" smtClean="0"/>
              <a:t>1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718494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9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12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4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0209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086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417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116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214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501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78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B38852-05B9-0E2E-51E3-5EB72180E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73005" y="-61736"/>
            <a:ext cx="7004011" cy="100310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06E5A6-4F71-388D-4195-93052C6FEE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9631" y="356148"/>
            <a:ext cx="2303117" cy="38857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66427" y="352038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427" y="5111800"/>
            <a:ext cx="2836366" cy="37787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427" y="664086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4760" y="3400276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54760" y="5485061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54760" y="8147447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30801" y="9312027"/>
            <a:ext cx="457349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igure_progressive_cram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36" y="1915269"/>
            <a:ext cx="2127200" cy="1031081"/>
          </a:xfrm>
          <a:prstGeom prst="rect">
            <a:avLst/>
          </a:prstGeom>
        </p:spPr>
      </p:pic>
      <p:pic>
        <p:nvPicPr>
          <p:cNvPr id="20" name="Picture 19" descr="figure_lowdim_proj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927" y="5489674"/>
            <a:ext cx="1985367" cy="1007269"/>
          </a:xfrm>
          <a:prstGeom prst="rect">
            <a:avLst/>
          </a:prstGeom>
        </p:spPr>
      </p:pic>
      <p:pic>
        <p:nvPicPr>
          <p:cNvPr id="21" name="Picture 20" descr="visual_abstract_pc1_pc2_jo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61" y="7440513"/>
            <a:ext cx="2552700" cy="1195834"/>
          </a:xfrm>
          <a:prstGeom prst="rect">
            <a:avLst/>
          </a:prstGeom>
        </p:spPr>
      </p:pic>
      <p:pic>
        <p:nvPicPr>
          <p:cNvPr id="22" name="Picture 21" descr="evaluation_protoc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760" y="1528316"/>
            <a:ext cx="2836515" cy="467171"/>
          </a:xfrm>
          <a:prstGeom prst="rect">
            <a:avLst/>
          </a:prstGeom>
        </p:spPr>
      </p:pic>
      <p:pic>
        <p:nvPicPr>
          <p:cNvPr id="23" name="Picture 22" descr="attention_knockout_cumulative_vertic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8426" y="3678138"/>
            <a:ext cx="2269182" cy="907107"/>
          </a:xfrm>
          <a:prstGeom prst="rect">
            <a:avLst/>
          </a:prstGeom>
        </p:spPr>
      </p:pic>
      <p:pic>
        <p:nvPicPr>
          <p:cNvPr id="24" name="Picture 23" descr="figure_full_cramm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8426" y="6260902"/>
            <a:ext cx="2269182" cy="8699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05249" y="9272885"/>
            <a:ext cx="556171" cy="390674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9320" y="9272885"/>
            <a:ext cx="556320" cy="390674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33540" y="9272885"/>
            <a:ext cx="556171" cy="390674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97611" y="9272885"/>
            <a:ext cx="556320" cy="390674"/>
          </a:xfrm>
          <a:prstGeom prst="rect">
            <a:avLst/>
          </a:prstGeom>
        </p:spPr>
      </p:pic>
      <p:pic>
        <p:nvPicPr>
          <p:cNvPr id="29" name="Picture 28" descr="qr_co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79021" y="9360247"/>
            <a:ext cx="360908" cy="360908"/>
          </a:xfrm>
          <a:prstGeom prst="rect">
            <a:avLst/>
          </a:prstGeom>
        </p:spPr>
      </p:pic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66427" y="4074170"/>
          <a:ext cx="2836367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39178"/>
                <a:gridCol w="563880"/>
                <a:gridCol w="742950"/>
                <a:gridCol w="490359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+LowDim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Boost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1438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500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335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957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2.9×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Gemma-3-4B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214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3.3×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554760" y="2325291"/>
          <a:ext cx="2836516" cy="65037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57238"/>
                <a:gridCol w="465773"/>
                <a:gridCol w="520065"/>
                <a:gridCol w="519112"/>
                <a:gridCol w="574328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49.1%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67.3%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56.0%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61.9%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63.5%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554760" y="7184678"/>
          <a:ext cx="2836514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0142"/>
                <a:gridCol w="541020"/>
                <a:gridCol w="599122"/>
                <a:gridCol w="556230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 / type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TF acc.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Greedy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1568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99.96%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40.4%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1353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89.8%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512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99.71%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44.2%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390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96.9%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466427" y="131415"/>
            <a:ext cx="705755" cy="158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43D374"/>
                </a:solidFill>
                <a:latin typeface="SB Sans Display Semibold"/>
                <a:ea typeface="SB Sans Display Semibold"/>
                <a:cs typeface="SB Sans Display Semibold"/>
              </a:rPr>
              <a:t>№TODO</a:t>
            </a:r>
            <a:endParaRPr lang="en-US" sz="1300"/>
          </a:p>
        </p:txBody>
      </p:sp>
      <p:sp>
        <p:nvSpPr>
          <p:cNvPr id="34" name="TextBox 33"/>
          <p:cNvSpPr txBox="1"/>
          <p:nvPr/>
        </p:nvSpPr>
        <p:spPr>
          <a:xfrm>
            <a:off x="466427" y="361504"/>
            <a:ext cx="3471220" cy="316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</a:rPr>
              <a:t>Progressive Cramming: Reliable Token Compression and What It Reveals</a:t>
            </a:r>
            <a:endParaRPr lang="en-US" sz="1300"/>
          </a:p>
        </p:txBody>
      </p:sp>
      <p:sp>
        <p:nvSpPr>
          <p:cNvPr id="35" name="TextBox 34"/>
          <p:cNvSpPr txBox="1"/>
          <p:nvPr/>
        </p:nvSpPr>
        <p:spPr>
          <a:xfrm>
            <a:off x="475059" y="827782"/>
            <a:ext cx="3471220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Dmitrii Tarasov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Timofei Lashukov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Elizaveta Goncharova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Andrey Kuznetsov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1,3</a:t>
            </a:r>
            <a:endParaRPr lang="en-US" sz="700"/>
          </a:p>
        </p:txBody>
      </p:sp>
      <p:sp>
        <p:nvSpPr>
          <p:cNvPr id="36" name="TextBox 35"/>
          <p:cNvSpPr txBox="1"/>
          <p:nvPr/>
        </p:nvSpPr>
        <p:spPr>
          <a:xfrm>
            <a:off x="466427" y="1367879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1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 Progressive cramming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/>
              <p:cNvSpPr txBox="1"/>
              <p:nvPr/>
            </p:nvSpPr>
            <p:spPr>
              <a:xfrm>
                <a:off x="466427" y="1528316"/>
                <a:ext cx="2878912" cy="333077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Optimise a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per-sample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input embedding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so that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frozen LM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reconstructs a text. The target grows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one token at a time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; the next stage starts only after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perfect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greedy reconstruction of the current prefix.</a:t>
                </a:r>
                <a:endParaRPr lang="en-US" sz="700"/>
              </a:p>
            </p:txBody>
          </p:sp>
        </mc:Choice>
        <mc:Fallback>
          <p:sp>
            <p:nvSpPr>
              <p:cNvPr id="37" name="TextBox 36"/>
              <p:cNvSpPr txBox="1"/>
              <p:nvPr/>
            </p:nvSpPr>
            <p:spPr>
              <a:xfrm>
                <a:off x="466427" y="1528316"/>
                <a:ext cx="2836366" cy="3330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/>
              <p:cNvSpPr txBox="1"/>
              <p:nvPr/>
            </p:nvSpPr>
            <p:spPr>
              <a:xfrm>
                <a:off x="466427" y="3000226"/>
                <a:ext cx="2878912" cy="376238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Halting on the first failure gives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sharp capacity boundary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per sample.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100% greedy reconstruction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at every accepted stage.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Saving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after each stage yields the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optimisation trajectory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</p:txBody>
          </p:sp>
        </mc:Choice>
        <mc:Fallback>
          <p:sp>
            <p:nvSpPr>
              <p:cNvPr id="38" name="TextBox 37"/>
              <p:cNvSpPr txBox="1"/>
              <p:nvPr/>
            </p:nvSpPr>
            <p:spPr>
              <a:xfrm>
                <a:off x="466427" y="3000226"/>
                <a:ext cx="2836366" cy="37623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39" name="TextBox 38"/>
          <p:cNvSpPr txBox="1"/>
          <p:nvPr/>
        </p:nvSpPr>
        <p:spPr>
          <a:xfrm>
            <a:off x="466427" y="3637806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 Across model families</a:t>
            </a:r>
            <a:endParaRPr lang="en-US" sz="700"/>
          </a:p>
        </p:txBody>
      </p:sp>
      <p:sp>
        <p:nvSpPr>
          <p:cNvPr id="40" name="TextBox 39"/>
          <p:cNvSpPr txBox="1"/>
          <p:nvPr/>
        </p:nvSpPr>
        <p:spPr>
          <a:xfrm>
            <a:off x="466427" y="3798243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Longest text a frozen model reconstructs perfectly from a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single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embedding, with and without a low-dimensional projection: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/>
              <p:cNvSpPr txBox="1"/>
              <p:nvPr/>
            </p:nvSpPr>
            <p:spPr>
              <a:xfrm>
                <a:off x="466427" y="4946898"/>
                <a:ext cx="2878912" cy="11102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Low-dim projection.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Optimise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z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a per-sample affine map </a:t>
                </a:r>
                <a14:m>
                  <m:oMath xmlns:m="http://schemas.openxmlformats.org/officeDocument/2006/math">
                    <m:r>
                      <m:rPr>
                        <m:sty m:val="i"/>
                      </m:rPr>
                      <a:rPr lang="en-US" sz="700" i="1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W</m:t>
                    </m:r>
                    <m:r>
                      <m:rPr>
                        <m:sty m:val="p"/>
                      </m:rPr>
                      <a:rPr lang="en-US" sz="700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,</m:t>
                    </m:r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b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</a:t>
                </a:r>
                <a:endParaRPr lang="en-US" sz="700"/>
              </a:p>
            </p:txBody>
          </p:sp>
        </mc:Choice>
        <mc:Fallback>
          <p:sp>
            <p:nvSpPr>
              <p:cNvPr id="41" name="TextBox 40"/>
              <p:cNvSpPr txBox="1"/>
              <p:nvPr/>
            </p:nvSpPr>
            <p:spPr>
              <a:xfrm>
                <a:off x="466427" y="4946898"/>
                <a:ext cx="2836366" cy="11102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2" name="TextBox 41"/>
          <p:cNvSpPr txBox="1"/>
          <p:nvPr/>
        </p:nvSpPr>
        <p:spPr>
          <a:xfrm>
            <a:off x="466427" y="6758285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3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 Optimisation trajectories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/>
              <p:cNvSpPr txBox="1"/>
              <p:nvPr/>
            </p:nvSpPr>
            <p:spPr>
              <a:xfrm>
                <a:off x="466427" y="6918722"/>
                <a:ext cx="2878912" cy="46791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Trajectories are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intrinsically low-dimensional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 30–100 PCA components explain 99% of the variance, although they live in </a:t>
                </a:r>
                <a14:m>
                  <m:oMath xmlns:m="http://schemas.openxmlformats.org/officeDocument/2006/math">
                    <m:sSup>
                      <m:e>
                        <m:box>
                          <m:e>
                            <m:r>
                              <m:rPr>
                                <m:scr m:val="double-struck"/>
                                <m:sty m:val="i"/>
                              </m:rPr>
                              <a:rPr lang="en-US" sz="700" i="1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R</m:t>
                            </m:r>
                          </m:e>
                        </m:box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a:rPr lang="en-US" sz="700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4096</m:t>
                            </m:r>
                          </m:e>
                        </m:box>
                      </m:sup>
                    </m:sSup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Accuracy basins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shrink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sequence length — longer texts leave less room for error.</a:t>
                </a:r>
                <a:endParaRPr lang="en-US" sz="700"/>
              </a:p>
            </p:txBody>
          </p:sp>
        </mc:Choice>
        <mc:Fallback>
          <p:sp>
            <p:nvSpPr>
              <p:cNvPr id="43" name="TextBox 42"/>
              <p:cNvSpPr txBox="1"/>
              <p:nvPr/>
            </p:nvSpPr>
            <p:spPr>
              <a:xfrm>
                <a:off x="466427" y="6918722"/>
                <a:ext cx="2836366" cy="46791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4" name="TextBox 43"/>
          <p:cNvSpPr txBox="1"/>
          <p:nvPr/>
        </p:nvSpPr>
        <p:spPr>
          <a:xfrm>
            <a:off x="466427" y="8672215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trajectory on PC1–PC2 (65.7% of variance); coloured regions are local accuracy basins.</a:t>
            </a:r>
            <a:endParaRPr lang="en-US" sz="700"/>
          </a:p>
        </p:txBody>
      </p:sp>
      <p:sp>
        <p:nvSpPr>
          <p:cNvPr id="45" name="TextBox 44"/>
          <p:cNvSpPr txBox="1"/>
          <p:nvPr/>
        </p:nvSpPr>
        <p:spPr>
          <a:xfrm>
            <a:off x="3554760" y="1367879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4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 Reconstruction ≠ understanding</a:t>
            </a:r>
            <a:endParaRPr lang="en-US" sz="700"/>
          </a:p>
        </p:txBody>
      </p:sp>
      <p:sp>
        <p:nvSpPr>
          <p:cNvPr id="46" name="TextBox 45"/>
          <p:cNvSpPr txBox="1"/>
          <p:nvPr/>
        </p:nvSpPr>
        <p:spPr>
          <a:xfrm>
            <a:off x="3554760" y="2049363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Prepending a crammed embedding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drops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benchmark accuracy even with the original prefix in context:</a:t>
            </a:r>
            <a:endParaRPr lang="en-US" sz="700"/>
          </a:p>
        </p:txBody>
      </p:sp>
      <p:sp>
        <p:nvSpPr>
          <p:cNvPr id="47" name="TextBox 46"/>
          <p:cNvSpPr txBox="1"/>
          <p:nvPr/>
        </p:nvSpPr>
        <p:spPr>
          <a:xfrm>
            <a:off x="3554760" y="3034308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On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generative 5-shot MMLU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accuracy falls to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≈0%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with the optimised embedding, while a random-embedding control stays at the baseline.</a:t>
            </a:r>
            <a:endParaRPr lang="en-US" sz="700"/>
          </a:p>
        </p:txBody>
      </p:sp>
      <p:sp>
        <p:nvSpPr>
          <p:cNvPr id="48" name="TextBox 47"/>
          <p:cNvSpPr txBox="1"/>
          <p:nvPr/>
        </p:nvSpPr>
        <p:spPr>
          <a:xfrm>
            <a:off x="3554760" y="3517702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5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 Attention knockout</a:t>
            </a:r>
            <a:endParaRPr lang="en-US" sz="700"/>
          </a:p>
        </p:txBody>
      </p:sp>
      <p:sp>
        <p:nvSpPr>
          <p:cNvPr id="49" name="TextBox 48"/>
          <p:cNvSpPr txBox="1"/>
          <p:nvPr/>
        </p:nvSpPr>
        <p:spPr>
          <a:xfrm>
            <a:off x="3554760" y="4621113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Llama-3.1-8B.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Forward knockout (masking early layers first) restores downstream accuracy, while reverse knockout fails until the early layers are masked too.</a:t>
            </a:r>
            <a:endParaRPr lang="en-US" sz="700"/>
          </a:p>
        </p:txBody>
      </p:sp>
      <p:sp>
        <p:nvSpPr>
          <p:cNvPr id="50" name="TextBox 49"/>
          <p:cNvSpPr txBox="1"/>
          <p:nvPr/>
        </p:nvSpPr>
        <p:spPr>
          <a:xfrm>
            <a:off x="3554760" y="5008066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Early layers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drive both the reconstruction and the capability collapse; the 20–60% late-layer attention mass is a symptom. The pattern holds for Llama-3.1-8B, Pythia-1.4B and SmolLM2-1.7B.</a:t>
            </a:r>
            <a:endParaRPr lang="en-US" sz="700"/>
          </a:p>
        </p:txBody>
      </p:sp>
      <p:sp>
        <p:nvSpPr>
          <p:cNvPr id="51" name="TextBox 50"/>
          <p:cNvSpPr txBox="1"/>
          <p:nvPr/>
        </p:nvSpPr>
        <p:spPr>
          <a:xfrm>
            <a:off x="3554760" y="5602486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6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 Why not full cramming?</a:t>
            </a:r>
            <a:endParaRPr lang="en-US" sz="700"/>
          </a:p>
        </p:txBody>
      </p:sp>
      <p:sp>
        <p:nvSpPr>
          <p:cNvPr id="52" name="TextBox 51"/>
          <p:cNvSpPr txBox="1"/>
          <p:nvPr/>
        </p:nvSpPr>
        <p:spPr>
          <a:xfrm>
            <a:off x="3554760" y="5762923"/>
            <a:ext cx="2879063" cy="444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Full cramming fixes the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number of tokens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optimises them jointly; progressive cramming fixes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accuracy at 100%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grows the text. Full cramming reaches more tokens, but its residual errors sit at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early positions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, and one early miss cascades through greedy generation:</a:t>
            </a:r>
            <a:endParaRPr lang="en-US" sz="700"/>
          </a:p>
        </p:txBody>
      </p:sp>
      <p:sp>
        <p:nvSpPr>
          <p:cNvPr id="53" name="TextBox 52"/>
          <p:cNvSpPr txBox="1"/>
          <p:nvPr/>
        </p:nvSpPr>
        <p:spPr>
          <a:xfrm>
            <a:off x="3554760" y="8264872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7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 Takeaways</a:t>
            </a:r>
            <a:endParaRPr lang="en-US" sz="700"/>
          </a:p>
        </p:txBody>
      </p:sp>
      <p:sp>
        <p:nvSpPr>
          <p:cNvPr id="54" name="TextBox 53"/>
          <p:cNvSpPr txBox="1"/>
          <p:nvPr/>
        </p:nvSpPr>
        <p:spPr>
          <a:xfrm>
            <a:off x="3554760" y="8425309"/>
            <a:ext cx="2879063" cy="4656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5200" indent="-115200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Brittle steering.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Perfect reconstruction stores nothing the model can use: benchmarks drop and generative MMLU collapses to ≈0%.</a:t>
            </a:r>
            <a:endParaRPr lang="en-US" sz="700"/>
          </a:p>
          <a:p>
            <a:pPr algn="l" marL="115200" indent="-115200">
              <a:lnSpc>
                <a:spcPts val="875"/>
              </a:lnSpc>
              <a:spcBef>
                <a:spcPts val="17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Early layers.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The embedding's causal influence concentrates in the first layers across all model families.</a:t>
            </a:r>
            <a:endParaRPr lang="en-US" sz="700"/>
          </a:p>
        </p:txBody>
      </p:sp>
      <p:sp>
        <p:nvSpPr>
          <p:cNvPr id="55" name="TextBox 54"/>
          <p:cNvSpPr txBox="1"/>
          <p:nvPr/>
        </p:nvSpPr>
        <p:spPr>
          <a:xfrm>
            <a:off x="494854" y="9319171"/>
            <a:ext cx="2676340" cy="2131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1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FusionBrain Lab, AIRI, </a:t>
            </a: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HSE University, Moscow,</a:t>
            </a:r>
            <a:br>
              <a:rPr lang="en-US" sz="700"/>
            </a:b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3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Innopolis University</a:t>
            </a:r>
            <a:endParaRPr lang="en-US" sz="700"/>
          </a:p>
        </p:txBody>
      </p:sp>
      <p:sp>
        <p:nvSpPr>
          <p:cNvPr id="56" name="TextBox 55"/>
          <p:cNvSpPr txBox="1"/>
          <p:nvPr/>
        </p:nvSpPr>
        <p:spPr>
          <a:xfrm>
            <a:off x="489645" y="9653736"/>
            <a:ext cx="2676340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Group contact: dtarasov@hse.ru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/>
              <p:cNvSpPr txBox="1"/>
              <p:nvPr/>
            </p:nvSpPr>
            <p:spPr>
              <a:xfrm>
                <a:off x="518117" y="5243810"/>
                <a:ext cx="2732987" cy="113854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ctr">
                  <a:buNone/>
                </a:pPr>
                <a14:m>
                  <ns0:oMathPara xmlns:ns0="http://schemas.openxmlformats.org/officeDocument/2006/math">
                    <ns0:oMathParaPr>
                      <ns0:jc ns0:val="centerGroup"/>
                    </ns0:oMathParaPr>
                    <ns0:oMath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e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=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W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+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b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d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k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k</ns0:t>
                      </ns0:r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≪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d</ns0:t>
                      </ns0:r>
                    </ns0:oMath>
                  </ns0:oMathPara>
                </a14:m>
                <a:endParaRPr lang="en-US" sz="700"/>
              </a:p>
            </p:txBody>
          </p:sp>
        </mc:Choice>
        <mc:Fallback>
          <p:sp>
            <p:nvSpPr>
              <p:cNvPr id="57" name="TextBox 56"/>
              <p:cNvSpPr txBox="1"/>
              <p:nvPr/>
            </p:nvSpPr>
            <p:spPr>
              <a:xfrm>
                <a:off x="538311" y="5243810"/>
                <a:ext cx="2692598" cy="1138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2978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</TotalTime>
  <Words>163</Words>
  <Application>Microsoft Macintosh PowerPoint</Application>
  <PresentationFormat>Произвольный</PresentationFormat>
  <Paragraphs>13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SB Sans Display Semibold</vt:lpstr>
      <vt:lpstr>Arial</vt:lpstr>
      <vt:lpstr>SB Sans Display</vt:lpstr>
      <vt:lpstr>Aptos Display</vt:lpstr>
      <vt:lpstr>Aptos</vt:lpstr>
      <vt:lpstr>SB Sans Text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Михаил  Балуев</dc:creator>
  <cp:lastModifiedBy>Дроздова Елена Васильевна</cp:lastModifiedBy>
  <cp:revision>18</cp:revision>
  <dcterms:created xsi:type="dcterms:W3CDTF">2024-09-23T17:12:44Z</dcterms:created>
  <dcterms:modified xsi:type="dcterms:W3CDTF">2026-09-24T10:08:31Z</dcterms:modified>
</cp:coreProperties>
</file>