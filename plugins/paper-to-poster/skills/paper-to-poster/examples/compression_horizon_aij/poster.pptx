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6858000" cy="990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241" userDrawn="1">
          <p15:clr>
            <a:srgbClr val="A4A3A4"/>
          </p15:clr>
        </p15:guide>
        <p15:guide id="2" userDrawn="1">
          <p15:clr>
            <a:srgbClr val="A4A3A4"/>
          </p15:clr>
        </p15:guide>
        <p15:guide id="3" pos="4320" userDrawn="1">
          <p15:clr>
            <a:srgbClr val="A4A3A4"/>
          </p15:clr>
        </p15:guide>
        <p15:guide id="4" orient="horz" userDrawn="1">
          <p15:clr>
            <a:srgbClr val="A4A3A4"/>
          </p15:clr>
        </p15:guide>
        <p15:guide id="5" orient="horz" pos="218" userDrawn="1">
          <p15:clr>
            <a:srgbClr val="A4A3A4"/>
          </p15:clr>
        </p15:guide>
        <p15:guide id="6" pos="300" userDrawn="1">
          <p15:clr>
            <a:srgbClr val="A4A3A4"/>
          </p15:clr>
        </p15:guide>
        <p15:guide id="7" pos="4020" userDrawn="1">
          <p15:clr>
            <a:srgbClr val="A4A3A4"/>
          </p15:clr>
        </p15:guide>
        <p15:guide id="8" orient="horz" pos="5865" userDrawn="1">
          <p15:clr>
            <a:srgbClr val="A4A3A4"/>
          </p15:clr>
        </p15:guide>
        <p15:guide id="9" orient="horz" pos="898" userDrawn="1">
          <p15:clr>
            <a:srgbClr val="A4A3A4"/>
          </p15:clr>
        </p15:guide>
        <p15:guide id="10" orient="horz" pos="56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D374"/>
    <a:srgbClr val="1D61C0"/>
    <a:srgbClr val="CFCF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66"/>
    <p:restoredTop sz="94621"/>
  </p:normalViewPr>
  <p:slideViewPr>
    <p:cSldViewPr snapToGrid="0">
      <p:cViewPr varScale="1">
        <p:scale>
          <a:sx n="102" d="100"/>
          <a:sy n="102" d="100"/>
        </p:scale>
        <p:origin x="3352" y="192"/>
      </p:cViewPr>
      <p:guideLst>
        <p:guide orient="horz" pos="6241"/>
        <p:guide/>
        <p:guide pos="4320"/>
        <p:guide orient="horz"/>
        <p:guide orient="horz" pos="218"/>
        <p:guide pos="300"/>
        <p:guide pos="4020"/>
        <p:guide orient="horz" pos="5865"/>
        <p:guide orient="horz" pos="898"/>
        <p:guide orient="horz" pos="56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3805C6-37C1-1E4B-B143-C45C93086204}" type="datetimeFigureOut">
              <a:rPr lang="ru-BY" smtClean="0"/>
              <a:t>9/24/26</a:t>
            </a:fld>
            <a:endParaRPr lang="ru-BY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BY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BY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BY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FE46A3-1084-E540-87B6-9BFE76B8D342}" type="slidenum">
              <a:rPr lang="ru-BY" smtClean="0"/>
              <a:t>‹#›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310011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FE46A3-1084-E540-87B6-9BFE76B8D342}" type="slidenum">
              <a:rPr lang="ru-BY" smtClean="0"/>
              <a:t>1</a:t>
            </a:fld>
            <a:endParaRPr lang="ru-BY"/>
          </a:p>
        </p:txBody>
      </p:sp>
    </p:spTree>
    <p:extLst>
      <p:ext uri="{BB962C8B-B14F-4D97-AF65-F5344CB8AC3E}">
        <p14:creationId xmlns:p14="http://schemas.microsoft.com/office/powerpoint/2010/main" val="3718494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914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812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4458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0209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30868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0417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5116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1177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214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2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9501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BC918D-AB8F-A04B-AF7C-2E4DE0C9DDCB}" type="datetimeFigureOut">
              <a:rPr lang="ru-RU" smtClean="0"/>
              <a:t>24.09.2026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6CBAD-E26D-2B42-95FA-5A3E2013B8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784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3B38852-05B9-0E2E-51E3-5EB72180E8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-73005" y="-61736"/>
            <a:ext cx="7004011" cy="1003106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E06E5A6-4F71-388D-4195-93052C6FEE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79631" y="356148"/>
            <a:ext cx="2303117" cy="38857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66427" y="352038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6427" y="5111800"/>
            <a:ext cx="2836366" cy="377875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427" y="6640860"/>
            <a:ext cx="2836366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54760" y="3400276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54760" y="5485061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54760" y="8147447"/>
            <a:ext cx="2836515" cy="9525"/>
          </a:xfrm>
          <a:prstGeom prst="rect">
            <a:avLst/>
          </a:prstGeom>
          <a:solidFill>
            <a:srgbClr val="D5DA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705249" y="9312027"/>
            <a:ext cx="583257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60390" y="9312027"/>
            <a:ext cx="583257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015532" y="9312027"/>
            <a:ext cx="583257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70673" y="9312027"/>
            <a:ext cx="583257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30801" y="9312027"/>
            <a:ext cx="457349" cy="457349"/>
          </a:xfrm>
          <a:prstGeom prst="roundRect">
            <a:avLst>
              <a:gd name="adj" fmla="val 8343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figure_progressive_cram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936" y="1915269"/>
            <a:ext cx="2127200" cy="1031081"/>
          </a:xfrm>
          <a:prstGeom prst="rect">
            <a:avLst/>
          </a:prstGeom>
        </p:spPr>
      </p:pic>
      <p:pic>
        <p:nvPicPr>
          <p:cNvPr id="24" name="Picture 23" descr="figure_lowdim_proj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927" y="5489674"/>
            <a:ext cx="1985367" cy="1007269"/>
          </a:xfrm>
          <a:prstGeom prst="rect">
            <a:avLst/>
          </a:prstGeom>
        </p:spPr>
      </p:pic>
      <p:pic>
        <p:nvPicPr>
          <p:cNvPr id="25" name="Picture 24" descr="visual_abstract_pc1_pc2_jo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61" y="7440513"/>
            <a:ext cx="2552700" cy="1195834"/>
          </a:xfrm>
          <a:prstGeom prst="rect">
            <a:avLst/>
          </a:prstGeom>
        </p:spPr>
      </p:pic>
      <p:pic>
        <p:nvPicPr>
          <p:cNvPr id="26" name="Picture 25" descr="evaluation_protoc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4760" y="1528316"/>
            <a:ext cx="2836515" cy="467171"/>
          </a:xfrm>
          <a:prstGeom prst="rect">
            <a:avLst/>
          </a:prstGeom>
        </p:spPr>
      </p:pic>
      <p:pic>
        <p:nvPicPr>
          <p:cNvPr id="27" name="Picture 26" descr="attention_knockout_cumulative_vertic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38426" y="3678138"/>
            <a:ext cx="2269182" cy="907107"/>
          </a:xfrm>
          <a:prstGeom prst="rect">
            <a:avLst/>
          </a:prstGeom>
        </p:spPr>
      </p:pic>
      <p:pic>
        <p:nvPicPr>
          <p:cNvPr id="28" name="Picture 27" descr="figure_full_cramming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38426" y="6260902"/>
            <a:ext cx="2269182" cy="86990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59125" y="9484370"/>
            <a:ext cx="475506" cy="112514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4266" y="9471720"/>
            <a:ext cx="475506" cy="137815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9407" y="9483775"/>
            <a:ext cx="475506" cy="113854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24549" y="9494490"/>
            <a:ext cx="475506" cy="92273"/>
          </a:xfrm>
          <a:prstGeom prst="rect">
            <a:avLst/>
          </a:prstGeom>
        </p:spPr>
      </p:pic>
      <p:pic>
        <p:nvPicPr>
          <p:cNvPr id="33" name="Picture 32" descr="qr_cod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79021" y="9360247"/>
            <a:ext cx="360908" cy="360908"/>
          </a:xfrm>
          <a:prstGeom prst="rect">
            <a:avLst/>
          </a:prstGeom>
        </p:spPr>
      </p:pic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466427" y="4074170"/>
          <a:ext cx="2836367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39178"/>
                <a:gridCol w="563880"/>
                <a:gridCol w="742950"/>
                <a:gridCol w="490359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+LowDim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Boost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1438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500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1.2×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335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957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2.9×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Gemma-3-4B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214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697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3.3×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554760" y="2325291"/>
          <a:ext cx="2836516" cy="65037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57238"/>
                <a:gridCol w="465773"/>
                <a:gridCol w="520065"/>
                <a:gridCol w="519112"/>
                <a:gridCol w="574328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HS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base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ARC +emb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Pythia-1.4B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49.1%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SmolLM2-1.7B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53.6%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37.0%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67.3%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56.0%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Llama-3.1-8B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61.9%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63.5%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43.3%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554760" y="7184678"/>
          <a:ext cx="2836514" cy="81409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0142"/>
                <a:gridCol w="541020"/>
                <a:gridCol w="599122"/>
                <a:gridCol w="556230"/>
              </a:tblGrid>
              <a:tr h="164009">
                <a:tc>
                  <a:txBody>
                    <a:bodyPr/>
                    <a:lstStyle/>
                    <a:p>
                      <a:pPr algn="l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Model / type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Tokens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TF acc.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4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26359A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Greedy</a:t>
                      </a:r>
                      <a:endParaRPr lang="en-US" sz="700"/>
                    </a:p>
                  </a:txBody>
                  <a:tcPr marL="43200" marR="43200" marT="28800" marB="288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4FA"/>
                    </a:solidFill>
                  </a:tcPr>
                </a:tc>
              </a:tr>
              <a:tr h="158948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1568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99.96%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40.4%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Llama-8B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1353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89.8%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full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512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99.71%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C0392B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44.2%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  <a:tr h="163711">
                <a:tc>
                  <a:txBody>
                    <a:bodyPr/>
                    <a:lstStyle/>
                    <a:p>
                      <a:pPr algn="l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Pythia / progr.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1B1F2A"/>
                          </a:solidFill>
                          <a:latin typeface="SB Sans Display Light"/>
                          <a:ea typeface="SB Sans Display Light"/>
                          <a:cs typeface="SB Sans Display Light"/>
                        </a:rPr>
                        <a:t>390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100%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>
                          <a:solidFill>
                            <a:srgbClr val="1E9E53"/>
                          </a:solidFill>
                          <a:latin typeface="SB Sans Display"/>
                          <a:ea typeface="SB Sans Display"/>
                          <a:cs typeface="SB Sans Display"/>
                        </a:rPr>
                        <a:t>96.9%</a:t>
                      </a:r>
                      <a:endParaRPr lang="en-US" sz="700"/>
                    </a:p>
                  </a:txBody>
                  <a:tcPr marL="43200" marR="43200" marT="21600" marB="216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5DAE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66427" y="131415"/>
            <a:ext cx="792766" cy="17070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43D374"/>
                </a:solidFill>
                <a:latin typeface="SB Sans Display"/>
                <a:ea typeface="SB Sans Display"/>
                <a:cs typeface="SB Sans Display"/>
              </a:rPr>
              <a:t>№TODO</a:t>
            </a:r>
            <a:endParaRPr lang="en-US" sz="1400"/>
          </a:p>
        </p:txBody>
      </p:sp>
      <p:sp>
        <p:nvSpPr>
          <p:cNvPr id="38" name="TextBox 37"/>
          <p:cNvSpPr txBox="1"/>
          <p:nvPr/>
        </p:nvSpPr>
        <p:spPr>
          <a:xfrm>
            <a:off x="466427" y="361504"/>
            <a:ext cx="3471220" cy="341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Progressive Cramming: Reliable Token Compression and What It Reveals</a:t>
            </a:r>
            <a:endParaRPr lang="en-US" sz="1400"/>
          </a:p>
        </p:txBody>
      </p:sp>
      <p:sp>
        <p:nvSpPr>
          <p:cNvPr id="39" name="TextBox 38"/>
          <p:cNvSpPr txBox="1"/>
          <p:nvPr/>
        </p:nvSpPr>
        <p:spPr>
          <a:xfrm>
            <a:off x="475059" y="827782"/>
            <a:ext cx="3471220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Dmitrii Tarasov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Timofei Lashukov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Elizaveta Goncharova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1,2</a:t>
            </a:r>
            <a:r>
              <a:rPr lang="en-US" sz="7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, Andrey Kuznetsov</a:t>
            </a:r>
            <a:r>
              <a:rPr lang="en-US" sz="700" baseline="30000">
                <a:solidFill>
                  <a:srgbClr val="FFFFFF"/>
                </a:solidFill>
                <a:latin typeface="SB Sans Display"/>
                <a:ea typeface="SB Sans Display"/>
                <a:cs typeface="SB Sans Display"/>
              </a:rPr>
              <a:t>1,3</a:t>
            </a:r>
            <a:endParaRPr lang="en-US" sz="700"/>
          </a:p>
        </p:txBody>
      </p:sp>
      <p:sp>
        <p:nvSpPr>
          <p:cNvPr id="40" name="TextBox 39"/>
          <p:cNvSpPr txBox="1"/>
          <p:nvPr/>
        </p:nvSpPr>
        <p:spPr>
          <a:xfrm>
            <a:off x="466427" y="1367879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1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 Progressive cramming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/>
              <p:cNvSpPr txBox="1"/>
              <p:nvPr/>
            </p:nvSpPr>
            <p:spPr>
              <a:xfrm>
                <a:off x="466427" y="1528316"/>
                <a:ext cx="2878912" cy="333077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Optimise a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per-sample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input embedding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so that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frozen LM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reconstructs a text. The target grows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one token at a time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; the next stage starts only after </a:t>
                </a: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perfect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greedy reconstruction of the current prefix.</a:t>
                </a:r>
                <a:endParaRPr lang="en-US" sz="700"/>
              </a:p>
            </p:txBody>
          </p:sp>
        </mc:Choice>
        <mc:Fallback>
          <p:sp>
            <p:nvSpPr>
              <p:cNvPr id="41" name="TextBox 40"/>
              <p:cNvSpPr txBox="1"/>
              <p:nvPr/>
            </p:nvSpPr>
            <p:spPr>
              <a:xfrm>
                <a:off x="466427" y="1528316"/>
                <a:ext cx="2836366" cy="3330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/>
              <p:cNvSpPr txBox="1"/>
              <p:nvPr/>
            </p:nvSpPr>
            <p:spPr>
              <a:xfrm>
                <a:off x="466427" y="3000226"/>
                <a:ext cx="2878912" cy="376238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Halting on the first failure gives a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sharp capacity boundary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per sample.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100% greedy reconstruction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at every accepted stage.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Saving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e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after each stage yields the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optimisation trajectory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</p:txBody>
          </p:sp>
        </mc:Choice>
        <mc:Fallback>
          <p:sp>
            <p:nvSpPr>
              <p:cNvPr id="42" name="TextBox 41"/>
              <p:cNvSpPr txBox="1"/>
              <p:nvPr/>
            </p:nvSpPr>
            <p:spPr>
              <a:xfrm>
                <a:off x="466427" y="3000226"/>
                <a:ext cx="2836366" cy="376238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3" name="TextBox 42"/>
          <p:cNvSpPr txBox="1"/>
          <p:nvPr/>
        </p:nvSpPr>
        <p:spPr>
          <a:xfrm>
            <a:off x="466427" y="3637806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2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 Across model families</a:t>
            </a:r>
            <a:endParaRPr lang="en-US" sz="700"/>
          </a:p>
        </p:txBody>
      </p:sp>
      <p:sp>
        <p:nvSpPr>
          <p:cNvPr id="44" name="TextBox 43"/>
          <p:cNvSpPr txBox="1"/>
          <p:nvPr/>
        </p:nvSpPr>
        <p:spPr>
          <a:xfrm>
            <a:off x="466427" y="3798243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Longest text a frozen model reconstructs perfectly from a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single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embedding, with and without a low-dimensional projection: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/>
              <p:cNvSpPr txBox="1"/>
              <p:nvPr/>
            </p:nvSpPr>
            <p:spPr>
              <a:xfrm>
                <a:off x="466427" y="4946898"/>
                <a:ext cx="2878912" cy="111026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700" b="1">
                    <a:solidFill>
                      <a:srgbClr val="1B1F2A"/>
                    </a:solidFill>
                    <a:latin typeface="SB Sans Display"/>
                    <a:ea typeface="SB Sans Display"/>
                    <a:cs typeface="SB Sans Display"/>
                  </a:rPr>
                  <a:t>Low-dim projection.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Optimise </a:t>
                </a:r>
                <a14:m>
                  <m:oMath xmlns:m="http://schemas.openxmlformats.org/officeDocument/2006/math"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z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a per-sample affine map </a:t>
                </a:r>
                <a14:m>
                  <m:oMath xmlns:m="http://schemas.openxmlformats.org/officeDocument/2006/math">
                    <m:r>
                      <m:rPr>
                        <m:sty m:val="i"/>
                      </m:rPr>
                      <a:rPr lang="en-US" sz="700" i="1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W</m:t>
                    </m:r>
                    <m:r>
                      <m:rPr>
                        <m:sty m:val="p"/>
                      </m:rPr>
                      <a:rPr lang="en-US" sz="700">
                        <a:solidFill>
                          <a:srgbClr val="1B1F2A"/>
                        </a:solidFill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,</m:t>
                    </m:r>
                    <m:box>
                      <m:e>
                        <m:r>
                          <m:rPr>
                            <m:sty m:val="b"/>
                          </m:rPr>
                          <a:rPr lang="en-US" sz="700" b="1">
                            <a:solidFill>
                              <a:srgbClr val="1B1F2A"/>
                            </a:solidFill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b</m:t>
                        </m:r>
                      </m:e>
                    </m:box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</a:t>
                </a:r>
                <a:endParaRPr lang="en-US" sz="700"/>
              </a:p>
            </p:txBody>
          </p:sp>
        </mc:Choice>
        <mc:Fallback>
          <p:sp>
            <p:nvSpPr>
              <p:cNvPr id="45" name="TextBox 44"/>
              <p:cNvSpPr txBox="1"/>
              <p:nvPr/>
            </p:nvSpPr>
            <p:spPr>
              <a:xfrm>
                <a:off x="466427" y="4946898"/>
                <a:ext cx="2836366" cy="111026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6" name="TextBox 45"/>
          <p:cNvSpPr txBox="1"/>
          <p:nvPr/>
        </p:nvSpPr>
        <p:spPr>
          <a:xfrm>
            <a:off x="466427" y="6758285"/>
            <a:ext cx="2878912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3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 Optimisation trajectories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/>
              <p:cNvSpPr txBox="1"/>
              <p:nvPr/>
            </p:nvSpPr>
            <p:spPr>
              <a:xfrm>
                <a:off x="466427" y="6918722"/>
                <a:ext cx="2878912" cy="467916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l" marL="115200" indent="-115200">
                  <a:lnSpc>
                    <a:spcPts val="875"/>
                  </a:lnSpc>
                  <a:spcBef>
                    <a:spcPts val="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Trajectories are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intrinsically low-dimensional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: 30–100 PCA components explain 99% of the variance, although they live in </a:t>
                </a:r>
                <a14:m>
                  <m:oMath xmlns:m="http://schemas.openxmlformats.org/officeDocument/2006/math">
                    <m:sSup>
                      <m:e>
                        <m:box>
                          <m:e>
                            <m:r>
                              <m:rPr>
                                <m:scr m:val="double-struck"/>
                                <m:sty m:val="i"/>
                              </m:rPr>
                              <a:rPr lang="en-US" sz="700" i="1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R</m:t>
                            </m:r>
                          </m:e>
                        </m:box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a:rPr lang="en-US" sz="700">
                                <a:solidFill>
                                  <a:srgbClr val="1B1F2A"/>
                                </a:solidFill>
                                <a:latin typeface="Cambria Math" panose="02040503050406030204" pitchFamily="18" charset="0"/>
                                <a:cs typeface="Cambria Math" panose="02040503050406030204" pitchFamily="18" charset="0"/>
                              </a:rPr>
                              <m:t>4096</m:t>
                            </m:r>
                          </m:e>
                        </m:box>
                      </m:sup>
                    </m:sSup>
                  </m:oMath>
                </a14:m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.</a:t>
                </a:r>
                <a:endParaRPr lang="en-US" sz="700"/>
              </a:p>
              <a:p>
                <a:pPr algn="l" marL="115200" indent="-115200">
                  <a:lnSpc>
                    <a:spcPts val="875"/>
                  </a:lnSpc>
                  <a:spcBef>
                    <a:spcPts val="170"/>
                  </a:spcBef>
                  <a:spcAft>
                    <a:spcPts val="0"/>
                  </a:spcAft>
                  <a:buFont typeface="Arial"/>
                  <a:buChar char="•"/>
                </a:pP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Accuracy basins </a:t>
                </a:r>
                <a:r>
                  <a:rPr lang="en-US" sz="700">
                    <a:solidFill>
                      <a:srgbClr val="26359A"/>
                    </a:solidFill>
                    <a:latin typeface="SB Sans Display"/>
                    <a:ea typeface="SB Sans Display"/>
                    <a:cs typeface="SB Sans Display"/>
                  </a:rPr>
                  <a:t>shrink</a:t>
                </a:r>
                <a:r>
                  <a:rPr lang="en-US" sz="700">
                    <a:solidFill>
                      <a:srgbClr val="1B1F2A"/>
                    </a:solidFill>
                    <a:latin typeface="SB Sans Display Light"/>
                    <a:ea typeface="SB Sans Display Light"/>
                    <a:cs typeface="SB Sans Display Light"/>
                  </a:rPr>
                  <a:t> with sequence length — longer texts leave less room for error.</a:t>
                </a:r>
                <a:endParaRPr lang="en-US" sz="700"/>
              </a:p>
            </p:txBody>
          </p:sp>
        </mc:Choice>
        <mc:Fallback>
          <p:sp>
            <p:nvSpPr>
              <p:cNvPr id="47" name="TextBox 46"/>
              <p:cNvSpPr txBox="1"/>
              <p:nvPr/>
            </p:nvSpPr>
            <p:spPr>
              <a:xfrm>
                <a:off x="466427" y="6918722"/>
                <a:ext cx="2836366" cy="467916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  <p:sp>
        <p:nvSpPr>
          <p:cNvPr id="48" name="TextBox 47"/>
          <p:cNvSpPr txBox="1"/>
          <p:nvPr/>
        </p:nvSpPr>
        <p:spPr>
          <a:xfrm>
            <a:off x="466427" y="8672215"/>
            <a:ext cx="2878912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trajectory on PC1–PC2 (65.7% of variance); coloured regions are local accuracy basins.</a:t>
            </a:r>
            <a:endParaRPr lang="en-US" sz="700"/>
          </a:p>
        </p:txBody>
      </p:sp>
      <p:sp>
        <p:nvSpPr>
          <p:cNvPr id="49" name="TextBox 48"/>
          <p:cNvSpPr txBox="1"/>
          <p:nvPr/>
        </p:nvSpPr>
        <p:spPr>
          <a:xfrm>
            <a:off x="3554760" y="1367879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4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 Reconstruction ≠ understanding</a:t>
            </a:r>
            <a:endParaRPr lang="en-US" sz="700"/>
          </a:p>
        </p:txBody>
      </p:sp>
      <p:sp>
        <p:nvSpPr>
          <p:cNvPr id="50" name="TextBox 49"/>
          <p:cNvSpPr txBox="1"/>
          <p:nvPr/>
        </p:nvSpPr>
        <p:spPr>
          <a:xfrm>
            <a:off x="3554760" y="2049363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Prepending a crammed embedding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drops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benchmark accuracy even with the original prefix in context:</a:t>
            </a:r>
            <a:endParaRPr lang="en-US" sz="700"/>
          </a:p>
        </p:txBody>
      </p:sp>
      <p:sp>
        <p:nvSpPr>
          <p:cNvPr id="51" name="TextBox 50"/>
          <p:cNvSpPr txBox="1"/>
          <p:nvPr/>
        </p:nvSpPr>
        <p:spPr>
          <a:xfrm>
            <a:off x="3554760" y="3034308"/>
            <a:ext cx="2879063" cy="2220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On </a:t>
            </a: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generative 5-shot MMLU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accuracy falls to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≈0%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with the optimised embedding, while a random-embedding control stays at the baseline.</a:t>
            </a:r>
            <a:endParaRPr lang="en-US" sz="700"/>
          </a:p>
        </p:txBody>
      </p:sp>
      <p:sp>
        <p:nvSpPr>
          <p:cNvPr id="52" name="TextBox 51"/>
          <p:cNvSpPr txBox="1"/>
          <p:nvPr/>
        </p:nvSpPr>
        <p:spPr>
          <a:xfrm>
            <a:off x="3554760" y="3517702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5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 Attention knockout</a:t>
            </a:r>
            <a:endParaRPr lang="en-US" sz="700"/>
          </a:p>
        </p:txBody>
      </p:sp>
      <p:sp>
        <p:nvSpPr>
          <p:cNvPr id="53" name="TextBox 52"/>
          <p:cNvSpPr txBox="1"/>
          <p:nvPr/>
        </p:nvSpPr>
        <p:spPr>
          <a:xfrm>
            <a:off x="3554760" y="4621113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>
                <a:solidFill>
                  <a:srgbClr val="5A6275"/>
                </a:solidFill>
                <a:latin typeface="SB Sans Display"/>
                <a:ea typeface="SB Sans Display"/>
                <a:cs typeface="SB Sans Display"/>
              </a:rPr>
              <a:t>Llama-3.1-8B.</a:t>
            </a:r>
            <a:r>
              <a:rPr lang="en-US" sz="700">
                <a:solidFill>
                  <a:srgbClr val="5A6275"/>
                </a:solidFill>
                <a:latin typeface="SB Sans Display Light"/>
                <a:ea typeface="SB Sans Display Light"/>
                <a:cs typeface="SB Sans Display Light"/>
              </a:rPr>
              <a:t> Forward knockout (masking early layers first) restores downstream accuracy, while reverse knockout fails until the early layers are masked too.</a:t>
            </a:r>
            <a:endParaRPr lang="en-US" sz="700"/>
          </a:p>
        </p:txBody>
      </p:sp>
      <p:sp>
        <p:nvSpPr>
          <p:cNvPr id="54" name="TextBox 53"/>
          <p:cNvSpPr txBox="1"/>
          <p:nvPr/>
        </p:nvSpPr>
        <p:spPr>
          <a:xfrm>
            <a:off x="3554760" y="5008066"/>
            <a:ext cx="2879063" cy="33307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Early layers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drive both the reconstruction and the capability collapse; the 20–60% late-layer attention mass is a symptom. The pattern holds for Llama-3.1-8B, Pythia-1.4B and SmolLM2-1.7B.</a:t>
            </a:r>
            <a:endParaRPr lang="en-US" sz="700"/>
          </a:p>
        </p:txBody>
      </p:sp>
      <p:sp>
        <p:nvSpPr>
          <p:cNvPr id="55" name="TextBox 54"/>
          <p:cNvSpPr txBox="1"/>
          <p:nvPr/>
        </p:nvSpPr>
        <p:spPr>
          <a:xfrm>
            <a:off x="3554760" y="5602486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6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 Why not full cramming?</a:t>
            </a:r>
            <a:endParaRPr lang="en-US" sz="700"/>
          </a:p>
        </p:txBody>
      </p:sp>
      <p:sp>
        <p:nvSpPr>
          <p:cNvPr id="56" name="TextBox 55"/>
          <p:cNvSpPr txBox="1"/>
          <p:nvPr/>
        </p:nvSpPr>
        <p:spPr>
          <a:xfrm>
            <a:off x="3554760" y="5762923"/>
            <a:ext cx="2879063" cy="4441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Full cramming fixes the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number of tokens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optimises them jointly; progressive cramming fixes </a:t>
            </a:r>
            <a:r>
              <a:rPr lang="en-US" sz="700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accuracy at 100%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and grows the text. Full cramming reaches more tokens, but its residual errors sit at </a:t>
            </a:r>
            <a:r>
              <a:rPr lang="en-US" sz="700">
                <a:solidFill>
                  <a:srgbClr val="C0392B"/>
                </a:solidFill>
                <a:latin typeface="SB Sans Display"/>
                <a:ea typeface="SB Sans Display"/>
                <a:cs typeface="SB Sans Display"/>
              </a:rPr>
              <a:t>early positions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, and one early miss cascades through greedy generation:</a:t>
            </a:r>
            <a:endParaRPr lang="en-US" sz="700"/>
          </a:p>
        </p:txBody>
      </p:sp>
      <p:sp>
        <p:nvSpPr>
          <p:cNvPr id="57" name="TextBox 56"/>
          <p:cNvSpPr txBox="1"/>
          <p:nvPr/>
        </p:nvSpPr>
        <p:spPr>
          <a:xfrm>
            <a:off x="3554760" y="8264872"/>
            <a:ext cx="2879063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cap="all" spc="28">
                <a:solidFill>
                  <a:srgbClr val="1E9E53"/>
                </a:solidFill>
                <a:latin typeface="SB Sans Display"/>
                <a:ea typeface="SB Sans Display"/>
                <a:cs typeface="SB Sans Display"/>
              </a:rPr>
              <a:t>7</a:t>
            </a:r>
            <a:r>
              <a:rPr lang="en-US" sz="700" cap="all" spc="28">
                <a:solidFill>
                  <a:srgbClr val="26359A"/>
                </a:solidFill>
                <a:latin typeface="SB Sans Display"/>
                <a:ea typeface="SB Sans Display"/>
                <a:cs typeface="SB Sans Display"/>
              </a:rPr>
              <a:t> Takeaways</a:t>
            </a:r>
            <a:endParaRPr lang="en-US" sz="700"/>
          </a:p>
        </p:txBody>
      </p:sp>
      <p:sp>
        <p:nvSpPr>
          <p:cNvPr id="58" name="TextBox 57"/>
          <p:cNvSpPr txBox="1"/>
          <p:nvPr/>
        </p:nvSpPr>
        <p:spPr>
          <a:xfrm>
            <a:off x="3554760" y="8425309"/>
            <a:ext cx="2879063" cy="4656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15200" indent="-115200">
              <a:lnSpc>
                <a:spcPts val="875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Brittle steering.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Perfect reconstruction stores nothing the model can use: benchmarks drop and generative MMLU collapses to ≈0%.</a:t>
            </a:r>
            <a:endParaRPr lang="en-US" sz="700"/>
          </a:p>
          <a:p>
            <a:pPr algn="l" marL="115200" indent="-115200">
              <a:lnSpc>
                <a:spcPts val="875"/>
              </a:lnSpc>
              <a:spcBef>
                <a:spcPts val="170"/>
              </a:spcBef>
              <a:spcAft>
                <a:spcPts val="0"/>
              </a:spcAft>
              <a:buFont typeface="Arial"/>
              <a:buChar char="•"/>
            </a:pPr>
            <a:r>
              <a:rPr lang="en-US" sz="700" b="1">
                <a:solidFill>
                  <a:srgbClr val="1B1F2A"/>
                </a:solidFill>
                <a:latin typeface="SB Sans Display"/>
                <a:ea typeface="SB Sans Display"/>
                <a:cs typeface="SB Sans Display"/>
              </a:rPr>
              <a:t>Early layers.</a:t>
            </a:r>
            <a:r>
              <a:rPr lang="en-US" sz="700">
                <a:solidFill>
                  <a:srgbClr val="1B1F2A"/>
                </a:solidFill>
                <a:latin typeface="SB Sans Display Light"/>
                <a:ea typeface="SB Sans Display Light"/>
                <a:cs typeface="SB Sans Display Light"/>
              </a:rPr>
              <a:t> The embedding's causal influence concentrates in the first layers across all model families.</a:t>
            </a:r>
            <a:endParaRPr lang="en-US" sz="700"/>
          </a:p>
        </p:txBody>
      </p:sp>
      <p:sp>
        <p:nvSpPr>
          <p:cNvPr id="59" name="TextBox 58"/>
          <p:cNvSpPr txBox="1"/>
          <p:nvPr/>
        </p:nvSpPr>
        <p:spPr>
          <a:xfrm>
            <a:off x="494854" y="9319171"/>
            <a:ext cx="2676340" cy="2131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1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FusionBrain Lab, AIRI, </a:t>
            </a: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2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HSE University, Moscow,</a:t>
            </a:r>
            <a:br>
              <a:rPr lang="en-US" sz="700"/>
            </a:br>
            <a:r>
              <a:rPr lang="en-US" sz="700" baseline="300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3</a:t>
            </a: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 Innopolis University</a:t>
            </a:r>
            <a:endParaRPr lang="en-US" sz="700"/>
          </a:p>
        </p:txBody>
      </p:sp>
      <p:sp>
        <p:nvSpPr>
          <p:cNvPr id="60" name="TextBox 59"/>
          <p:cNvSpPr txBox="1"/>
          <p:nvPr/>
        </p:nvSpPr>
        <p:spPr>
          <a:xfrm>
            <a:off x="489645" y="9653736"/>
            <a:ext cx="2676340" cy="106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>
                <a:solidFill>
                  <a:srgbClr val="FFFFFF"/>
                </a:solidFill>
                <a:latin typeface="SB Sans Display Light"/>
                <a:ea typeface="SB Sans Display Light"/>
                <a:cs typeface="SB Sans Display Light"/>
              </a:rPr>
              <a:t>Group contact: dtarasov@hse.ru</a:t>
            </a:r>
            <a:endParaRPr lang="en-US" sz="7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1" name="TextBox 60"/>
              <p:cNvSpPr txBox="1"/>
              <p:nvPr/>
            </p:nvSpPr>
            <p:spPr>
              <a:xfrm>
                <a:off x="518117" y="5243810"/>
                <a:ext cx="2732987" cy="113854"/>
              </a:xfrm>
              <a:prstGeom prst="rect">
                <a:avLst/>
              </a:prstGeom>
              <a:noFill/>
            </p:spPr>
            <p:txBody>
              <a:bodyPr wrap="square" lIns="0" rIns="0" tIns="0" bIns="0" anchor="t">
                <a:noAutofit/>
              </a:bodyPr>
              <a:lstStyle/>
              <a:p>
                <a:pPr algn="ctr">
                  <a:buNone/>
                </a:pPr>
                <a14:m>
                  <ns0:oMathPara xmlns:ns0="http://schemas.openxmlformats.org/officeDocument/2006/math">
                    <ns0:oMathParaPr>
                      <ns0:jc ns0:val="centerGroup"/>
                    </ns0:oMathParaPr>
                    <ns0:oMath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e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=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W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+</ns0:t>
                      </ns0:r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b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d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box>
                        <ns0:e>
                          <ns0:r>
                            <ns0:rPr>
                              <ns0:sty ns0:val="b"/>
                            </ns0:rPr>
                            <a:rPr lang="en-US" sz="700" b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z</ns0:t>
                          </ns0:r>
                        </ns0:e>
                      </ns0:box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∈</ns0:t>
                      </ns0:r>
                      <ns0:sSup>
                        <ns0:e>
                          <ns0:box>
                            <ns0:e>
                              <ns0:r>
                                <ns0:rPr>
                                  <ns0:scr ns0:val="double-struck"/>
                                  <ns0:sty ns0:val="i"/>
                                </ns0:rPr>
                                <a:rPr lang="en-US" sz="700" i="1">
                                  <a:solidFill>
                                    <a:srgbClr val="1B1F2A"/>
                                  </a:solidFill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ns0:t>R</ns0:t>
                              </ns0:r>
                            </ns0:e>
                          </ns0:box>
                        </ns0:e>
                        <ns0:sup>
                          <ns0:r>
                            <ns0:rPr>
                              <ns0:sty ns0:val="i"/>
                            </ns0:rPr>
                            <a:rPr lang="en-US" sz="700" i="1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>k</ns0:t>
                          </ns0:r>
                        </ns0:sup>
                      </ns0:sSup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,</ns0:t>
                      </ns0:r>
                      <ns0:box>
                        <ns0:e>
                          <ns0:r>
                            <a:rPr lang="en-US" sz="700">
                              <a:solidFill>
                                <a:srgbClr val="1B1F2A"/>
                              </a:solidFill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ns0:t/>
                          </ns0:r>
                        </ns0:e>
                      </ns0:box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k</ns0:t>
                      </ns0:r>
                      <ns0:r>
                        <ns0:rPr>
                          <ns0:sty ns0:val="p"/>
                        </ns0:rPr>
                        <a:rPr lang="en-US" sz="700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≪</ns0:t>
                      </ns0:r>
                      <ns0:r>
                        <ns0:rPr>
                          <ns0:sty ns0:val="i"/>
                        </ns0:rPr>
                        <a:rPr lang="en-US" sz="700" i="1">
                          <a:solidFill>
                            <a:srgbClr val="1B1F2A"/>
                          </a:solidFill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ns0:t>d</ns0:t>
                      </ns0:r>
                    </ns0:oMath>
                  </ns0:oMathPara>
                </a14:m>
                <a:endParaRPr lang="en-US" sz="700"/>
              </a:p>
            </p:txBody>
          </p:sp>
        </mc:Choice>
        <mc:Fallback>
          <p:sp>
            <p:nvSpPr>
              <p:cNvPr id="61" name="TextBox 60"/>
              <p:cNvSpPr txBox="1"/>
              <p:nvPr/>
            </p:nvSpPr>
            <p:spPr>
              <a:xfrm>
                <a:off x="538311" y="5243810"/>
                <a:ext cx="2692598" cy="1138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 wrap="square" lIns="0" rIns="0" tIns="0" bIns="0" anchor="t">
                <a:noAutofit/>
              </a:bodyPr>
              <a:lstStyle/>
              <a:p/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29787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877</TotalTime>
  <Words>163</Words>
  <Application>Microsoft Macintosh PowerPoint</Application>
  <PresentationFormat>Произвольный</PresentationFormat>
  <Paragraphs>13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8" baseType="lpstr">
      <vt:lpstr>SB Sans Display Semibold</vt:lpstr>
      <vt:lpstr>Arial</vt:lpstr>
      <vt:lpstr>SB Sans Display</vt:lpstr>
      <vt:lpstr>Aptos Display</vt:lpstr>
      <vt:lpstr>Aptos</vt:lpstr>
      <vt:lpstr>SB Sans Text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Михаил  Балуев</dc:creator>
  <cp:lastModifiedBy>Дроздова Елена Васильевна</cp:lastModifiedBy>
  <cp:revision>18</cp:revision>
  <dcterms:created xsi:type="dcterms:W3CDTF">2024-09-23T17:12:44Z</dcterms:created>
  <dcterms:modified xsi:type="dcterms:W3CDTF">2026-09-24T10:08:31Z</dcterms:modified>
</cp:coreProperties>
</file>