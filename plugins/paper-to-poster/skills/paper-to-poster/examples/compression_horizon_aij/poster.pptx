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>
  <p:sldMasterIdLst>
    <p:sldMasterId id="2147483660" r:id="rId1"/>
  </p:sldMasterIdLst>
  <p:notesMasterIdLst>
    <p:notesMasterId r:id="rId3"/>
  </p:notesMasterIdLst>
  <p:sldIdLst>
    <p:sldId id="256" r:id="rId2"/>
  </p:sldIdLst>
  <p:sldSz cx="6858000" cy="9907588"/>
  <p:notesSz cx="6858000" cy="9144000"/>
  <p:embeddedFontLst>
    <p:embeddedFont>
      <p:font typeface="SB Sans Display Light" pitchFamily="34" charset="0"/>
      <p:regular r:id="rId8"/>
    </p:embeddedFont>
    <p:embeddedFont>
      <p:font typeface="SB Sans Display" pitchFamily="34" charset="0"/>
      <p:regular r:id="rId9"/>
      <p:bold r:id="rId11"/>
    </p:embeddedFont>
    <p:embeddedFont>
      <p:font typeface="SB Sans Display Semibold" pitchFamily="34" charset="0"/>
      <p:regular r:id="rId10"/>
    </p:embeddedFont>
    <p:embeddedFont>
      <p:font typeface="SB Sans Text" pitchFamily="34" charset="0"/>
      <p:regular r:id="rId7"/>
    </p:embeddedFont>
    <p:embeddedFont>
      <p:font typeface="SB Sans Text Semibold" pitchFamily="34" charset="0"/>
      <p:regular r:id="rId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241" userDrawn="1">
          <p15:clr>
            <a:srgbClr val="A4A3A4"/>
          </p15:clr>
        </p15:guide>
        <p15:guide id="2" userDrawn="1">
          <p15:clr>
            <a:srgbClr val="A4A3A4"/>
          </p15:clr>
        </p15:guide>
        <p15:guide id="3" pos="4320" userDrawn="1">
          <p15:clr>
            <a:srgbClr val="A4A3A4"/>
          </p15:clr>
        </p15:guide>
        <p15:guide id="4" orient="horz" userDrawn="1">
          <p15:clr>
            <a:srgbClr val="A4A3A4"/>
          </p15:clr>
        </p15:guide>
        <p15:guide id="5" orient="horz" pos="218" userDrawn="1">
          <p15:clr>
            <a:srgbClr val="A4A3A4"/>
          </p15:clr>
        </p15:guide>
        <p15:guide id="6" pos="300" userDrawn="1">
          <p15:clr>
            <a:srgbClr val="A4A3A4"/>
          </p15:clr>
        </p15:guide>
        <p15:guide id="7" pos="4020" userDrawn="1">
          <p15:clr>
            <a:srgbClr val="A4A3A4"/>
          </p15:clr>
        </p15:guide>
        <p15:guide id="8" orient="horz" pos="5865" userDrawn="1">
          <p15:clr>
            <a:srgbClr val="A4A3A4"/>
          </p15:clr>
        </p15:guide>
        <p15:guide id="9" orient="horz" pos="898" userDrawn="1">
          <p15:clr>
            <a:srgbClr val="A4A3A4"/>
          </p15:clr>
        </p15:guide>
        <p15:guide id="10" orient="horz" pos="561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D374"/>
    <a:srgbClr val="1D61C0"/>
    <a:srgbClr val="CFCF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66"/>
    <p:restoredTop sz="94621"/>
  </p:normalViewPr>
  <p:slideViewPr>
    <p:cSldViewPr snapToGrid="0">
      <p:cViewPr varScale="1">
        <p:scale>
          <a:sx n="102" d="100"/>
          <a:sy n="102" d="100"/>
        </p:scale>
        <p:origin x="3352" y="192"/>
      </p:cViewPr>
      <p:guideLst>
        <p:guide orient="horz" pos="6241"/>
        <p:guide/>
        <p:guide pos="4320"/>
        <p:guide orient="horz"/>
        <p:guide orient="horz" pos="218"/>
        <p:guide pos="300"/>
        <p:guide pos="4020"/>
        <p:guide orient="horz" pos="5865"/>
        <p:guide orient="horz" pos="898"/>
        <p:guide orient="horz" pos="561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6" Type="http://schemas.openxmlformats.org/officeDocument/2006/relationships/font" Target="fonts/font6.fntdata"/><Relationship Id="rId7" Type="http://schemas.openxmlformats.org/officeDocument/2006/relationships/font" Target="fonts/font5.fntdata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BY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3805C6-37C1-1E4B-B143-C45C93086204}" type="datetimeFigureOut">
              <a:rPr lang="ru-BY" smtClean="0"/>
              <a:t>9/24/26</a:t>
            </a:fld>
            <a:endParaRPr lang="ru-BY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BY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BY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FE46A3-1084-E540-87B6-9BFE76B8D342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310011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BY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FE46A3-1084-E540-87B6-9BFE76B8D342}" type="slidenum">
              <a:rPr lang="ru-BY" smtClean="0"/>
              <a:t>1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7184948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451"/>
            <a:ext cx="5829300" cy="344930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3778"/>
            <a:ext cx="5143500" cy="2392040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C918D-AB8F-A04B-AF7C-2E4DE0C9DDCB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CBAD-E26D-2B42-95FA-5A3E2013B8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0914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C918D-AB8F-A04B-AF7C-2E4DE0C9DDCB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CBAD-E26D-2B42-95FA-5A3E2013B8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2812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70019"/>
            <a:ext cx="5915025" cy="4121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30289"/>
            <a:ext cx="5915025" cy="2167284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C918D-AB8F-A04B-AF7C-2E4DE0C9DDCB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CBAD-E26D-2B42-95FA-5A3E2013B8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4458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436"/>
            <a:ext cx="2914650" cy="62862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436"/>
            <a:ext cx="2914650" cy="62862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C918D-AB8F-A04B-AF7C-2E4DE0C9DDCB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CBAD-E26D-2B42-95FA-5A3E2013B8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0209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90"/>
            <a:ext cx="5915025" cy="191500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736"/>
            <a:ext cx="2901255" cy="119028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9022"/>
            <a:ext cx="2901255" cy="532303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736"/>
            <a:ext cx="2915543" cy="119028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9022"/>
            <a:ext cx="2915543" cy="532303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C918D-AB8F-A04B-AF7C-2E4DE0C9DDCB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CBAD-E26D-2B42-95FA-5A3E2013B8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3086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C918D-AB8F-A04B-AF7C-2E4DE0C9DDCB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CBAD-E26D-2B42-95FA-5A3E2013B8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0417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C918D-AB8F-A04B-AF7C-2E4DE0C9DDCB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CBAD-E26D-2B42-95FA-5A3E2013B8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5116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506"/>
            <a:ext cx="2211884" cy="231177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511"/>
            <a:ext cx="3471863" cy="704080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2276"/>
            <a:ext cx="2211884" cy="550651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C918D-AB8F-A04B-AF7C-2E4DE0C9DDCB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CBAD-E26D-2B42-95FA-5A3E2013B8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1177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506"/>
            <a:ext cx="2211884" cy="231177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511"/>
            <a:ext cx="3471863" cy="704080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2276"/>
            <a:ext cx="2211884" cy="550651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C918D-AB8F-A04B-AF7C-2E4DE0C9DDCB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CBAD-E26D-2B42-95FA-5A3E2013B8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1214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C918D-AB8F-A04B-AF7C-2E4DE0C9DDCB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CBAD-E26D-2B42-95FA-5A3E2013B8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32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87"/>
            <a:ext cx="1478756" cy="8396223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87"/>
            <a:ext cx="4350544" cy="839622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C918D-AB8F-A04B-AF7C-2E4DE0C9DDCB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CBAD-E26D-2B42-95FA-5A3E2013B8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950101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90"/>
            <a:ext cx="5915025" cy="1915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436"/>
            <a:ext cx="5915025" cy="6286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2869"/>
            <a:ext cx="1543050" cy="5274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BC918D-AB8F-A04B-AF7C-2E4DE0C9DDCB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2869"/>
            <a:ext cx="2314575" cy="5274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2869"/>
            <a:ext cx="1543050" cy="5274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6CBAD-E26D-2B42-95FA-5A3E2013B8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6784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6.sv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14.png"/><Relationship Id="rId17" Type="http://schemas.openxmlformats.org/officeDocument/2006/relationships/image" Target="../media/image15.png"/><Relationship Id="rId18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3B38852-05B9-0E2E-51E3-5EB72180E81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/>
          <a:stretch/>
        </p:blipFill>
        <p:spPr>
          <a:xfrm>
            <a:off x="-73005" y="-61736"/>
            <a:ext cx="7004011" cy="1003106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E06E5A6-4F71-388D-4195-93052C6FEE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79631" y="356148"/>
            <a:ext cx="2303117" cy="38857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76250" y="3903315"/>
            <a:ext cx="2826693" cy="9525"/>
          </a:xfrm>
          <a:prstGeom prst="rect">
            <a:avLst/>
          </a:prstGeom>
          <a:solidFill>
            <a:srgbClr val="D5DA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6250" y="5918746"/>
            <a:ext cx="2826693" cy="39067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6250" y="6453336"/>
            <a:ext cx="2826693" cy="9525"/>
          </a:xfrm>
          <a:prstGeom prst="rect">
            <a:avLst/>
          </a:prstGeom>
          <a:solidFill>
            <a:srgbClr val="D5DA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54909" y="3674120"/>
            <a:ext cx="2826841" cy="9525"/>
          </a:xfrm>
          <a:prstGeom prst="rect">
            <a:avLst/>
          </a:prstGeom>
          <a:solidFill>
            <a:srgbClr val="D5DA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54909" y="5973663"/>
            <a:ext cx="2826841" cy="9525"/>
          </a:xfrm>
          <a:prstGeom prst="rect">
            <a:avLst/>
          </a:prstGeom>
          <a:solidFill>
            <a:srgbClr val="D5DA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30801" y="9312027"/>
            <a:ext cx="457349" cy="457349"/>
          </a:xfrm>
          <a:prstGeom prst="roundRect">
            <a:avLst>
              <a:gd name="adj" fmla="val 8343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figure_progressive_cramm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568" y="2190750"/>
            <a:ext cx="2119908" cy="1027509"/>
          </a:xfrm>
          <a:prstGeom prst="rect">
            <a:avLst/>
          </a:prstGeom>
        </p:spPr>
      </p:pic>
      <p:pic>
        <p:nvPicPr>
          <p:cNvPr id="19" name="Picture 18" descr="visual_abstract_pc1_pc2_join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181" y="7483673"/>
            <a:ext cx="2402681" cy="1125587"/>
          </a:xfrm>
          <a:prstGeom prst="rect">
            <a:avLst/>
          </a:prstGeom>
        </p:spPr>
      </p:pic>
      <p:pic>
        <p:nvPicPr>
          <p:cNvPr id="20" name="Picture 19" descr="evaluation_protoco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4909" y="1692771"/>
            <a:ext cx="2826841" cy="465534"/>
          </a:xfrm>
          <a:prstGeom prst="rect">
            <a:avLst/>
          </a:prstGeom>
        </p:spPr>
      </p:pic>
      <p:pic>
        <p:nvPicPr>
          <p:cNvPr id="21" name="Picture 20" descr="attention_knockout_cumulative_vertic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7533" y="4058841"/>
            <a:ext cx="2261443" cy="903982"/>
          </a:xfrm>
          <a:prstGeom prst="rect">
            <a:avLst/>
          </a:prstGeom>
        </p:spPr>
      </p:pic>
      <p:pic>
        <p:nvPicPr>
          <p:cNvPr id="22" name="Picture 21" descr="figure_full_crammin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25602" y="6967389"/>
            <a:ext cx="2685455" cy="1029593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05398" y="9443591"/>
            <a:ext cx="744141" cy="309711"/>
          </a:xfrm>
          <a:prstGeom prst="rect">
            <a:avLst/>
          </a:prstGeom>
        </p:spPr>
      </p:pic>
      <p:pic>
        <p:nvPicPr>
          <p:cNvPr id="24" name="Picture 23" descr="hse_logo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57439" y="9443591"/>
            <a:ext cx="810220" cy="194072"/>
          </a:xfrm>
          <a:prstGeom prst="rect">
            <a:avLst/>
          </a:prstGeom>
        </p:spPr>
      </p:pic>
      <p:pic>
        <p:nvPicPr>
          <p:cNvPr id="25" name="Picture 24" descr="innopolis_logo_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75559" y="9443591"/>
            <a:ext cx="778222" cy="194072"/>
          </a:xfrm>
          <a:prstGeom prst="rect">
            <a:avLst/>
          </a:prstGeom>
        </p:spPr>
      </p:pic>
      <p:pic>
        <p:nvPicPr>
          <p:cNvPr id="26" name="Picture 25" descr="qr_cod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79021" y="9360247"/>
            <a:ext cx="360908" cy="360908"/>
          </a:xfrm>
          <a:prstGeom prst="rect">
            <a:avLst/>
          </a:prstGeom>
        </p:spPr>
      </p:pic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476250" y="4674989"/>
          <a:ext cx="2826694" cy="81409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27748"/>
                <a:gridCol w="570548"/>
                <a:gridCol w="714375"/>
                <a:gridCol w="514023"/>
              </a:tblGrid>
              <a:tr h="164009">
                <a:tc>
                  <a:txBody>
                    <a:bodyPr/>
                    <a:lstStyle/>
                    <a:p>
                      <a:pPr algn="l">
                        <a:lnSpc>
                          <a:spcPts val="8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Model</a:t>
                      </a:r>
                      <a:endParaRPr lang="en-US" sz="700"/>
                    </a:p>
                  </a:txBody>
                  <a:tcPr marL="43200" marR="43200" marT="28800" marB="28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Tokens</a:t>
                      </a:r>
                      <a:endParaRPr lang="en-US" sz="700"/>
                    </a:p>
                  </a:txBody>
                  <a:tcPr marL="43200" marR="43200" marT="28800" marB="28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+LowDim</a:t>
                      </a:r>
                      <a:endParaRPr lang="en-US" sz="700"/>
                    </a:p>
                  </a:txBody>
                  <a:tcPr marL="43200" marR="43200" marT="28800" marB="28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Boost</a:t>
                      </a:r>
                      <a:endParaRPr lang="en-US" sz="700"/>
                    </a:p>
                  </a:txBody>
                  <a:tcPr marL="43200" marR="43200" marT="28800" marB="28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1F4FA"/>
                    </a:solidFill>
                  </a:tcPr>
                </a:tc>
              </a:tr>
              <a:tr h="158948">
                <a:tc>
                  <a:txBody>
                    <a:bodyPr/>
                    <a:lstStyle/>
                    <a:p>
                      <a:pPr algn="l">
                        <a:lnSpc>
                          <a:spcPts val="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Llama-3.1-8B</a:t>
                      </a:r>
                      <a:endParaRPr lang="en-US" sz="700"/>
                    </a:p>
                  </a:txBody>
                  <a:tcPr marL="43200" marR="43200" marT="21600" marB="2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1438</a:t>
                      </a:r>
                      <a:endParaRPr lang="en-US" sz="700"/>
                    </a:p>
                  </a:txBody>
                  <a:tcPr marL="43200" marR="43200" marT="21600" marB="2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1E9E53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1697</a:t>
                      </a:r>
                      <a:endParaRPr lang="en-US" sz="700"/>
                    </a:p>
                  </a:txBody>
                  <a:tcPr marL="43200" marR="43200" marT="21600" marB="2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1.2×</a:t>
                      </a:r>
                      <a:endParaRPr lang="en-US" sz="700"/>
                    </a:p>
                  </a:txBody>
                  <a:tcPr marL="43200" marR="43200" marT="21600" marB="2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6"/>
                      </a:solidFill>
                    </a:lnB>
                    <a:noFill/>
                  </a:tcPr>
                </a:tc>
              </a:tr>
              <a:tr h="163711">
                <a:tc>
                  <a:txBody>
                    <a:bodyPr/>
                    <a:lstStyle/>
                    <a:p>
                      <a:pPr algn="l">
                        <a:lnSpc>
                          <a:spcPts val="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Pythia-1.4B</a:t>
                      </a:r>
                      <a:endParaRPr lang="en-US" sz="700"/>
                    </a:p>
                  </a:txBody>
                  <a:tcPr marL="43200" marR="43200" marT="21600" marB="2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430</a:t>
                      </a:r>
                      <a:endParaRPr lang="en-US" sz="700"/>
                    </a:p>
                  </a:txBody>
                  <a:tcPr marL="43200" marR="43200" marT="21600" marB="2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500</a:t>
                      </a:r>
                      <a:endParaRPr lang="en-US" sz="700"/>
                    </a:p>
                  </a:txBody>
                  <a:tcPr marL="43200" marR="43200" marT="21600" marB="2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1.2×</a:t>
                      </a:r>
                      <a:endParaRPr lang="en-US" sz="700"/>
                    </a:p>
                  </a:txBody>
                  <a:tcPr marL="43200" marR="43200" marT="21600" marB="2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6"/>
                      </a:solidFill>
                    </a:lnB>
                    <a:noFill/>
                  </a:tcPr>
                </a:tc>
              </a:tr>
              <a:tr h="163711">
                <a:tc>
                  <a:txBody>
                    <a:bodyPr/>
                    <a:lstStyle/>
                    <a:p>
                      <a:pPr algn="l">
                        <a:lnSpc>
                          <a:spcPts val="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SmolLM2-1.7B</a:t>
                      </a:r>
                      <a:endParaRPr lang="en-US" sz="700"/>
                    </a:p>
                  </a:txBody>
                  <a:tcPr marL="43200" marR="43200" marT="21600" marB="2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335</a:t>
                      </a:r>
                      <a:endParaRPr lang="en-US" sz="700"/>
                    </a:p>
                  </a:txBody>
                  <a:tcPr marL="43200" marR="43200" marT="21600" marB="2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957</a:t>
                      </a:r>
                      <a:endParaRPr lang="en-US" sz="700"/>
                    </a:p>
                  </a:txBody>
                  <a:tcPr marL="43200" marR="43200" marT="21600" marB="2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2.9×</a:t>
                      </a:r>
                      <a:endParaRPr lang="en-US" sz="700"/>
                    </a:p>
                  </a:txBody>
                  <a:tcPr marL="43200" marR="43200" marT="21600" marB="2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6"/>
                      </a:solidFill>
                    </a:lnB>
                    <a:noFill/>
                  </a:tcPr>
                </a:tc>
              </a:tr>
              <a:tr h="163711">
                <a:tc>
                  <a:txBody>
                    <a:bodyPr/>
                    <a:lstStyle/>
                    <a:p>
                      <a:pPr algn="l">
                        <a:lnSpc>
                          <a:spcPts val="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Gemma-3-4B</a:t>
                      </a:r>
                      <a:endParaRPr lang="en-US" sz="700"/>
                    </a:p>
                  </a:txBody>
                  <a:tcPr marL="43200" marR="43200" marT="21600" marB="2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214</a:t>
                      </a:r>
                      <a:endParaRPr lang="en-US" sz="700"/>
                    </a:p>
                  </a:txBody>
                  <a:tcPr marL="43200" marR="43200" marT="21600" marB="2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697</a:t>
                      </a:r>
                      <a:endParaRPr lang="en-US" sz="700"/>
                    </a:p>
                  </a:txBody>
                  <a:tcPr marL="43200" marR="43200" marT="21600" marB="2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1E9E53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3.3×</a:t>
                      </a:r>
                      <a:endParaRPr lang="en-US" sz="700"/>
                    </a:p>
                  </a:txBody>
                  <a:tcPr marL="43200" marR="43200" marT="21600" marB="2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6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3554909" y="2488109"/>
          <a:ext cx="2826842" cy="65037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53428"/>
                <a:gridCol w="471488"/>
                <a:gridCol w="501968"/>
                <a:gridCol w="534352"/>
                <a:gridCol w="565606"/>
              </a:tblGrid>
              <a:tr h="164009">
                <a:tc>
                  <a:txBody>
                    <a:bodyPr/>
                    <a:lstStyle/>
                    <a:p>
                      <a:pPr algn="l">
                        <a:lnSpc>
                          <a:spcPts val="8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Model</a:t>
                      </a:r>
                      <a:endParaRPr lang="en-US" sz="700"/>
                    </a:p>
                  </a:txBody>
                  <a:tcPr marL="43200" marR="43200" marT="28800" marB="28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HS base</a:t>
                      </a:r>
                      <a:endParaRPr lang="en-US" sz="700"/>
                    </a:p>
                  </a:txBody>
                  <a:tcPr marL="43200" marR="43200" marT="28800" marB="28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HS +emb</a:t>
                      </a:r>
                      <a:endParaRPr lang="en-US" sz="700"/>
                    </a:p>
                  </a:txBody>
                  <a:tcPr marL="43200" marR="43200" marT="28800" marB="28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ARC base</a:t>
                      </a:r>
                      <a:endParaRPr lang="en-US" sz="700"/>
                    </a:p>
                  </a:txBody>
                  <a:tcPr marL="43200" marR="43200" marT="28800" marB="28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ARC +emb</a:t>
                      </a:r>
                      <a:endParaRPr lang="en-US" sz="700"/>
                    </a:p>
                  </a:txBody>
                  <a:tcPr marL="43200" marR="43200" marT="28800" marB="28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1F4FA"/>
                    </a:solidFill>
                  </a:tcPr>
                </a:tc>
              </a:tr>
              <a:tr h="158948">
                <a:tc>
                  <a:txBody>
                    <a:bodyPr/>
                    <a:lstStyle/>
                    <a:p>
                      <a:pPr algn="l">
                        <a:lnSpc>
                          <a:spcPts val="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Pythia-1.4B</a:t>
                      </a:r>
                      <a:endParaRPr lang="en-US" sz="700"/>
                    </a:p>
                  </a:txBody>
                  <a:tcPr marL="43200" marR="43200" marT="21600" marB="2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44.0%</a:t>
                      </a:r>
                      <a:endParaRPr lang="en-US" sz="700"/>
                    </a:p>
                  </a:txBody>
                  <a:tcPr marL="43200" marR="43200" marT="21600" marB="2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C0392B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37.6%</a:t>
                      </a:r>
                      <a:endParaRPr lang="en-US" sz="700"/>
                    </a:p>
                  </a:txBody>
                  <a:tcPr marL="43200" marR="43200" marT="21600" marB="2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53.1%</a:t>
                      </a:r>
                      <a:endParaRPr lang="en-US" sz="700"/>
                    </a:p>
                  </a:txBody>
                  <a:tcPr marL="43200" marR="43200" marT="21600" marB="2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C0392B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49.1%</a:t>
                      </a:r>
                      <a:endParaRPr lang="en-US" sz="700"/>
                    </a:p>
                  </a:txBody>
                  <a:tcPr marL="43200" marR="43200" marT="21600" marB="2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6"/>
                      </a:solidFill>
                    </a:lnB>
                    <a:noFill/>
                  </a:tcPr>
                </a:tc>
              </a:tr>
              <a:tr h="163711">
                <a:tc>
                  <a:txBody>
                    <a:bodyPr/>
                    <a:lstStyle/>
                    <a:p>
                      <a:pPr algn="l">
                        <a:lnSpc>
                          <a:spcPts val="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SmolLM2-1.7B</a:t>
                      </a:r>
                      <a:endParaRPr lang="en-US" sz="700"/>
                    </a:p>
                  </a:txBody>
                  <a:tcPr marL="43200" marR="43200" marT="21600" marB="2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53.6%</a:t>
                      </a:r>
                      <a:endParaRPr lang="en-US" sz="700"/>
                    </a:p>
                  </a:txBody>
                  <a:tcPr marL="43200" marR="43200" marT="21600" marB="2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C0392B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37.0%</a:t>
                      </a:r>
                      <a:endParaRPr lang="en-US" sz="700"/>
                    </a:p>
                  </a:txBody>
                  <a:tcPr marL="43200" marR="43200" marT="21600" marB="2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67.3%</a:t>
                      </a:r>
                      <a:endParaRPr lang="en-US" sz="700"/>
                    </a:p>
                  </a:txBody>
                  <a:tcPr marL="43200" marR="43200" marT="21600" marB="2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C0392B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56.0%</a:t>
                      </a:r>
                      <a:endParaRPr lang="en-US" sz="700"/>
                    </a:p>
                  </a:txBody>
                  <a:tcPr marL="43200" marR="43200" marT="21600" marB="2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6"/>
                      </a:solidFill>
                    </a:lnB>
                    <a:noFill/>
                  </a:tcPr>
                </a:tc>
              </a:tr>
              <a:tr h="163711">
                <a:tc>
                  <a:txBody>
                    <a:bodyPr/>
                    <a:lstStyle/>
                    <a:p>
                      <a:pPr algn="l">
                        <a:lnSpc>
                          <a:spcPts val="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Llama-3.1-8B</a:t>
                      </a:r>
                      <a:endParaRPr lang="en-US" sz="700"/>
                    </a:p>
                  </a:txBody>
                  <a:tcPr marL="43200" marR="43200" marT="21600" marB="2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61.9%</a:t>
                      </a:r>
                      <a:endParaRPr lang="en-US" sz="700"/>
                    </a:p>
                  </a:txBody>
                  <a:tcPr marL="43200" marR="43200" marT="21600" marB="2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C0392B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40.8%</a:t>
                      </a:r>
                      <a:endParaRPr lang="en-US" sz="700"/>
                    </a:p>
                  </a:txBody>
                  <a:tcPr marL="43200" marR="43200" marT="21600" marB="2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63.5%</a:t>
                      </a:r>
                      <a:endParaRPr lang="en-US" sz="700"/>
                    </a:p>
                  </a:txBody>
                  <a:tcPr marL="43200" marR="43200" marT="21600" marB="2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C0392B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43.3%</a:t>
                      </a:r>
                      <a:endParaRPr lang="en-US" sz="700"/>
                    </a:p>
                  </a:txBody>
                  <a:tcPr marL="43200" marR="43200" marT="21600" marB="2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6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3554909" y="8050857"/>
          <a:ext cx="2826843" cy="81409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95388"/>
                <a:gridCol w="543878"/>
                <a:gridCol w="543878"/>
                <a:gridCol w="543699"/>
              </a:tblGrid>
              <a:tr h="164009">
                <a:tc>
                  <a:txBody>
                    <a:bodyPr/>
                    <a:lstStyle/>
                    <a:p>
                      <a:pPr algn="l">
                        <a:lnSpc>
                          <a:spcPts val="8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Model / type</a:t>
                      </a:r>
                      <a:endParaRPr lang="en-US" sz="700"/>
                    </a:p>
                  </a:txBody>
                  <a:tcPr marL="43200" marR="43200" marT="28800" marB="28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Tokens</a:t>
                      </a:r>
                      <a:endParaRPr lang="en-US" sz="700"/>
                    </a:p>
                  </a:txBody>
                  <a:tcPr marL="43200" marR="43200" marT="28800" marB="28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TF acc.</a:t>
                      </a:r>
                      <a:endParaRPr lang="en-US" sz="700"/>
                    </a:p>
                  </a:txBody>
                  <a:tcPr marL="43200" marR="43200" marT="28800" marB="28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Greedy</a:t>
                      </a:r>
                      <a:endParaRPr lang="en-US" sz="700"/>
                    </a:p>
                  </a:txBody>
                  <a:tcPr marL="43200" marR="43200" marT="28800" marB="28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1F4FA"/>
                    </a:solidFill>
                  </a:tcPr>
                </a:tc>
              </a:tr>
              <a:tr h="158948">
                <a:tc>
                  <a:txBody>
                    <a:bodyPr/>
                    <a:lstStyle/>
                    <a:p>
                      <a:pPr algn="l">
                        <a:lnSpc>
                          <a:spcPts val="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Llama-8B / full</a:t>
                      </a:r>
                      <a:endParaRPr lang="en-US" sz="700"/>
                    </a:p>
                  </a:txBody>
                  <a:tcPr marL="43200" marR="43200" marT="21600" marB="2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1568</a:t>
                      </a:r>
                      <a:endParaRPr lang="en-US" sz="700"/>
                    </a:p>
                  </a:txBody>
                  <a:tcPr marL="43200" marR="43200" marT="21600" marB="2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99.96%</a:t>
                      </a:r>
                      <a:endParaRPr lang="en-US" sz="700"/>
                    </a:p>
                  </a:txBody>
                  <a:tcPr marL="43200" marR="43200" marT="21600" marB="2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C0392B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40.4%</a:t>
                      </a:r>
                      <a:endParaRPr lang="en-US" sz="700"/>
                    </a:p>
                  </a:txBody>
                  <a:tcPr marL="43200" marR="43200" marT="21600" marB="2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6"/>
                      </a:solidFill>
                    </a:lnB>
                    <a:noFill/>
                  </a:tcPr>
                </a:tc>
              </a:tr>
              <a:tr h="163711">
                <a:tc>
                  <a:txBody>
                    <a:bodyPr/>
                    <a:lstStyle/>
                    <a:p>
                      <a:pPr algn="l">
                        <a:lnSpc>
                          <a:spcPts val="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Llama-8B / progr.</a:t>
                      </a:r>
                      <a:endParaRPr lang="en-US" sz="700"/>
                    </a:p>
                  </a:txBody>
                  <a:tcPr marL="43200" marR="43200" marT="21600" marB="2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1353</a:t>
                      </a:r>
                      <a:endParaRPr lang="en-US" sz="700"/>
                    </a:p>
                  </a:txBody>
                  <a:tcPr marL="43200" marR="43200" marT="21600" marB="2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1E9E53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100%</a:t>
                      </a:r>
                      <a:endParaRPr lang="en-US" sz="700"/>
                    </a:p>
                  </a:txBody>
                  <a:tcPr marL="43200" marR="43200" marT="21600" marB="2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1E9E53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89.8%</a:t>
                      </a:r>
                      <a:endParaRPr lang="en-US" sz="700"/>
                    </a:p>
                  </a:txBody>
                  <a:tcPr marL="43200" marR="43200" marT="21600" marB="2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6"/>
                      </a:solidFill>
                    </a:lnB>
                    <a:noFill/>
                  </a:tcPr>
                </a:tc>
              </a:tr>
              <a:tr h="163711">
                <a:tc>
                  <a:txBody>
                    <a:bodyPr/>
                    <a:lstStyle/>
                    <a:p>
                      <a:pPr algn="l">
                        <a:lnSpc>
                          <a:spcPts val="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Pythia / full</a:t>
                      </a:r>
                      <a:endParaRPr lang="en-US" sz="700"/>
                    </a:p>
                  </a:txBody>
                  <a:tcPr marL="43200" marR="43200" marT="21600" marB="2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512</a:t>
                      </a:r>
                      <a:endParaRPr lang="en-US" sz="700"/>
                    </a:p>
                  </a:txBody>
                  <a:tcPr marL="43200" marR="43200" marT="21600" marB="2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99.71%</a:t>
                      </a:r>
                      <a:endParaRPr lang="en-US" sz="700"/>
                    </a:p>
                  </a:txBody>
                  <a:tcPr marL="43200" marR="43200" marT="21600" marB="2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C0392B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44.2%</a:t>
                      </a:r>
                      <a:endParaRPr lang="en-US" sz="700"/>
                    </a:p>
                  </a:txBody>
                  <a:tcPr marL="43200" marR="43200" marT="21600" marB="2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6"/>
                      </a:solidFill>
                    </a:lnB>
                    <a:noFill/>
                  </a:tcPr>
                </a:tc>
              </a:tr>
              <a:tr h="163711">
                <a:tc>
                  <a:txBody>
                    <a:bodyPr/>
                    <a:lstStyle/>
                    <a:p>
                      <a:pPr algn="l">
                        <a:lnSpc>
                          <a:spcPts val="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Pythia / progr.</a:t>
                      </a:r>
                      <a:endParaRPr lang="en-US" sz="700"/>
                    </a:p>
                  </a:txBody>
                  <a:tcPr marL="43200" marR="43200" marT="21600" marB="2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390</a:t>
                      </a:r>
                      <a:endParaRPr lang="en-US" sz="700"/>
                    </a:p>
                  </a:txBody>
                  <a:tcPr marL="43200" marR="43200" marT="21600" marB="2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1E9E53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100%</a:t>
                      </a:r>
                      <a:endParaRPr lang="en-US" sz="700"/>
                    </a:p>
                  </a:txBody>
                  <a:tcPr marL="43200" marR="43200" marT="21600" marB="2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1E9E53"/>
                          </a:solidFill>
                          <a:latin typeface="SB Sans Text"/>
                          <a:ea typeface="SB Sans Text"/>
                          <a:cs typeface="SB Sans Text"/>
                        </a:rPr>
                        <a:t>96.9%</a:t>
                      </a:r>
                      <a:endParaRPr lang="en-US" sz="700"/>
                    </a:p>
                  </a:txBody>
                  <a:tcPr marL="43200" marR="43200" marT="21600" marB="2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6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466427" y="131415"/>
            <a:ext cx="270700" cy="1583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3D374"/>
                </a:solidFill>
                <a:latin typeface="SB Sans Display Semibold"/>
                <a:ea typeface="SB Sans Display Semibold"/>
                <a:cs typeface="SB Sans Display Semibold"/>
              </a:rPr>
              <a:t>№1</a:t>
            </a:r>
            <a:endParaRPr lang="en-US" sz="1300"/>
          </a:p>
        </p:txBody>
      </p:sp>
      <p:sp>
        <p:nvSpPr>
          <p:cNvPr id="31" name="TextBox 30"/>
          <p:cNvSpPr txBox="1"/>
          <p:nvPr/>
        </p:nvSpPr>
        <p:spPr>
          <a:xfrm>
            <a:off x="466427" y="361504"/>
            <a:ext cx="3471220" cy="3167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SB Sans Display Semibold"/>
                <a:ea typeface="SB Sans Display Semibold"/>
                <a:cs typeface="SB Sans Display Semibold"/>
              </a:rPr>
              <a:t>Progressive Cramming: Reliable Token Compression and What It Reveals</a:t>
            </a:r>
            <a:endParaRPr lang="en-US" sz="1300"/>
          </a:p>
        </p:txBody>
      </p:sp>
      <p:sp>
        <p:nvSpPr>
          <p:cNvPr id="32" name="TextBox 31"/>
          <p:cNvSpPr txBox="1"/>
          <p:nvPr/>
        </p:nvSpPr>
        <p:spPr>
          <a:xfrm>
            <a:off x="475059" y="827782"/>
            <a:ext cx="3471220" cy="10656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FFFFFF"/>
                </a:solidFill>
                <a:latin typeface="SB Sans Display"/>
                <a:ea typeface="SB Sans Display"/>
                <a:cs typeface="SB Sans Display"/>
              </a:rPr>
              <a:t>Dmitrii Tarasov</a:t>
            </a:r>
            <a:r>
              <a:rPr lang="en-US" sz="700" baseline="30000">
                <a:solidFill>
                  <a:srgbClr val="FFFFFF"/>
                </a:solidFill>
                <a:latin typeface="SB Sans Display"/>
                <a:ea typeface="SB Sans Display"/>
                <a:cs typeface="SB Sans Display"/>
              </a:rPr>
              <a:t>1,2</a:t>
            </a:r>
            <a:r>
              <a:rPr lang="en-US" sz="700">
                <a:solidFill>
                  <a:srgbClr val="FFFFFF"/>
                </a:solidFill>
                <a:latin typeface="SB Sans Display"/>
                <a:ea typeface="SB Sans Display"/>
                <a:cs typeface="SB Sans Display"/>
              </a:rPr>
              <a:t>, Timofei Lashukov</a:t>
            </a:r>
            <a:r>
              <a:rPr lang="en-US" sz="700" baseline="30000">
                <a:solidFill>
                  <a:srgbClr val="FFFFFF"/>
                </a:solidFill>
                <a:latin typeface="SB Sans Display"/>
                <a:ea typeface="SB Sans Display"/>
                <a:cs typeface="SB Sans Display"/>
              </a:rPr>
              <a:t>2</a:t>
            </a:r>
            <a:r>
              <a:rPr lang="en-US" sz="700">
                <a:solidFill>
                  <a:srgbClr val="FFFFFF"/>
                </a:solidFill>
                <a:latin typeface="SB Sans Display"/>
                <a:ea typeface="SB Sans Display"/>
                <a:cs typeface="SB Sans Display"/>
              </a:rPr>
              <a:t>, Elizaveta Goncharova</a:t>
            </a:r>
            <a:r>
              <a:rPr lang="en-US" sz="700" baseline="30000">
                <a:solidFill>
                  <a:srgbClr val="FFFFFF"/>
                </a:solidFill>
                <a:latin typeface="SB Sans Display"/>
                <a:ea typeface="SB Sans Display"/>
                <a:cs typeface="SB Sans Display"/>
              </a:rPr>
              <a:t>1,2</a:t>
            </a:r>
            <a:r>
              <a:rPr lang="en-US" sz="700">
                <a:solidFill>
                  <a:srgbClr val="FFFFFF"/>
                </a:solidFill>
                <a:latin typeface="SB Sans Display"/>
                <a:ea typeface="SB Sans Display"/>
                <a:cs typeface="SB Sans Display"/>
              </a:rPr>
              <a:t>, Andrey Kuznetsov</a:t>
            </a:r>
            <a:r>
              <a:rPr lang="en-US" sz="700" baseline="30000">
                <a:solidFill>
                  <a:srgbClr val="FFFFFF"/>
                </a:solidFill>
                <a:latin typeface="SB Sans Display"/>
                <a:ea typeface="SB Sans Display"/>
                <a:cs typeface="SB Sans Display"/>
              </a:rPr>
              <a:t>1,3</a:t>
            </a:r>
            <a:endParaRPr lang="en-US" sz="700"/>
          </a:p>
        </p:txBody>
      </p:sp>
      <p:sp>
        <p:nvSpPr>
          <p:cNvPr id="33" name="TextBox 32"/>
          <p:cNvSpPr txBox="1"/>
          <p:nvPr/>
        </p:nvSpPr>
        <p:spPr>
          <a:xfrm>
            <a:off x="476250" y="1425476"/>
            <a:ext cx="2826693" cy="2134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000000"/>
                </a:solidFill>
                <a:latin typeface="SB Sans Display"/>
                <a:ea typeface="SB Sans Display"/>
                <a:cs typeface="SB Sans Display"/>
              </a:rPr>
              <a:t>1</a:t>
            </a:r>
            <a:r>
              <a:rPr lang="en-US" sz="1400" b="1">
                <a:solidFill>
                  <a:srgbClr val="000000"/>
                </a:solidFill>
                <a:latin typeface="SB Sans Display"/>
                <a:ea typeface="SB Sans Display"/>
                <a:cs typeface="SB Sans Display"/>
              </a:rPr>
              <a:t> Method</a:t>
            </a:r>
            <a:endParaRPr lang="en-US" sz="1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/>
              <p:cNvSpPr txBox="1"/>
              <p:nvPr/>
            </p:nvSpPr>
            <p:spPr>
              <a:xfrm>
                <a:off x="476250" y="1692771"/>
                <a:ext cx="2826693" cy="444103"/>
              </a:xfrm>
              <a:prstGeom prst="rect">
                <a:avLst/>
              </a:prstGeom>
              <a:noFill/>
            </p:spPr>
            <p:txBody>
              <a:bodyPr wrap="square" lIns="0" rIns="0" tIns="0" bIns="0" anchor="t">
                <a:noAutofit/>
              </a:bodyPr>
              <a:lstStyle/>
              <a:p>
                <a:pPr algn="l">
                  <a:lnSpc>
                    <a:spcPts val="87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700">
                    <a:solidFill>
                      <a:srgbClr val="000000"/>
                    </a:solidFill>
                    <a:latin typeface="SB Sans Text"/>
                    <a:ea typeface="SB Sans Text"/>
                    <a:cs typeface="SB Sans Text"/>
                  </a:rPr>
                  <a:t>Optimise a </a:t>
                </a:r>
                <a:r>
                  <a:rPr lang="en-US" sz="700">
                    <a:solidFill>
                      <a:srgbClr val="000000"/>
                    </a:solidFill>
                    <a:latin typeface="SB Sans Text Semibold"/>
                    <a:ea typeface="SB Sans Text Semibold"/>
                    <a:cs typeface="SB Sans Text Semibold"/>
                  </a:rPr>
                  <a:t>per-sample</a:t>
                </a:r>
                <a:r>
                  <a:rPr lang="en-US" sz="700">
                    <a:solidFill>
                      <a:srgbClr val="000000"/>
                    </a:solidFill>
                    <a:latin typeface="SB Sans Text"/>
                    <a:ea typeface="SB Sans Text"/>
                    <a:cs typeface="SB Sans Text"/>
                  </a:rPr>
                  <a:t> input embedding </a:t>
                </a:r>
                <a14:m>
                  <m:oMath xmlns:m="http://schemas.openxmlformats.org/officeDocument/2006/math">
                    <m:box>
                      <m:e>
                        <m:r>
                          <m:rPr>
                            <m:sty m:val="b"/>
                          </m:rPr>
                          <a:rPr lang="en-US" sz="7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e</m:t>
                        </m:r>
                      </m:e>
                    </m:box>
                  </m:oMath>
                </a14:m>
                <a:r>
                  <a:rPr lang="en-US" sz="700">
                    <a:solidFill>
                      <a:srgbClr val="000000"/>
                    </a:solidFill>
                    <a:latin typeface="SB Sans Text"/>
                    <a:ea typeface="SB Sans Text"/>
                    <a:cs typeface="SB Sans Text"/>
                  </a:rPr>
                  <a:t> so that a </a:t>
                </a:r>
                <a:r>
                  <a:rPr lang="en-US" sz="700">
                    <a:solidFill>
                      <a:srgbClr val="26359A"/>
                    </a:solidFill>
                    <a:latin typeface="SB Sans Text"/>
                    <a:ea typeface="SB Sans Text"/>
                    <a:cs typeface="SB Sans Text"/>
                  </a:rPr>
                  <a:t>frozen LM</a:t>
                </a:r>
                <a:r>
                  <a:rPr lang="en-US" sz="700">
                    <a:solidFill>
                      <a:srgbClr val="000000"/>
                    </a:solidFill>
                    <a:latin typeface="SB Sans Text"/>
                    <a:ea typeface="SB Sans Text"/>
                    <a:cs typeface="SB Sans Text"/>
                  </a:rPr>
                  <a:t> reconstructs a text. The target grows </a:t>
                </a:r>
                <a:r>
                  <a:rPr lang="en-US" sz="700">
                    <a:solidFill>
                      <a:srgbClr val="000000"/>
                    </a:solidFill>
                    <a:latin typeface="SB Sans Text Semibold"/>
                    <a:ea typeface="SB Sans Text Semibold"/>
                    <a:cs typeface="SB Sans Text Semibold"/>
                  </a:rPr>
                  <a:t>one token at a time</a:t>
                </a:r>
                <a:r>
                  <a:rPr lang="en-US" sz="700">
                    <a:solidFill>
                      <a:srgbClr val="000000"/>
                    </a:solidFill>
                    <a:latin typeface="SB Sans Text"/>
                    <a:ea typeface="SB Sans Text"/>
                    <a:cs typeface="SB Sans Text"/>
                  </a:rPr>
                  <a:t>; the next stage starts only after </a:t>
                </a:r>
                <a:r>
                  <a:rPr lang="en-US" sz="700">
                    <a:solidFill>
                      <a:srgbClr val="000000"/>
                    </a:solidFill>
                    <a:latin typeface="SB Sans Text Semibold"/>
                    <a:ea typeface="SB Sans Text Semibold"/>
                    <a:cs typeface="SB Sans Text Semibold"/>
                  </a:rPr>
                  <a:t>perfect</a:t>
                </a:r>
                <a:r>
                  <a:rPr lang="en-US" sz="700">
                    <a:solidFill>
                      <a:srgbClr val="000000"/>
                    </a:solidFill>
                    <a:latin typeface="SB Sans Text"/>
                    <a:ea typeface="SB Sans Text"/>
                    <a:cs typeface="SB Sans Text"/>
                  </a:rPr>
                  <a:t> greedy reconstruction of the current prefix.</a:t>
                </a:r>
                <a:endParaRPr lang="en-US" sz="700"/>
              </a:p>
            </p:txBody>
          </p:sp>
        </mc:Choice>
        <mc:Fallback>
          <p:sp>
            <p:nvSpPr>
              <p:cNvPr id="34" name="TextBox 33"/>
              <p:cNvSpPr txBox="1"/>
              <p:nvPr/>
            </p:nvSpPr>
            <p:spPr>
              <a:xfrm>
                <a:off x="476250" y="1692771"/>
                <a:ext cx="2826693" cy="44410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 wrap="square" lIns="0" rIns="0" tIns="0" bIns="0" anchor="t">
                <a:noAutofit/>
              </a:bodyPr>
              <a:lstStyle/>
              <a:p/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/>
              <p:cNvSpPr txBox="1"/>
              <p:nvPr/>
            </p:nvSpPr>
            <p:spPr>
              <a:xfrm>
                <a:off x="476250" y="3272135"/>
                <a:ext cx="2826693" cy="487263"/>
              </a:xfrm>
              <a:prstGeom prst="rect">
                <a:avLst/>
              </a:prstGeom>
              <a:noFill/>
            </p:spPr>
            <p:txBody>
              <a:bodyPr wrap="square" lIns="0" rIns="0" tIns="0" bIns="0" anchor="t">
                <a:noAutofit/>
              </a:bodyPr>
              <a:lstStyle/>
              <a:p>
                <a:pPr algn="l" marL="115200" indent="-115200">
                  <a:lnSpc>
                    <a:spcPts val="875"/>
                  </a:lnSpc>
                  <a:spcBef>
                    <a:spcPts val="0"/>
                  </a:spcBef>
                  <a:spcAft>
                    <a:spcPts val="0"/>
                  </a:spcAft>
                  <a:buFont typeface="Arial"/>
                  <a:buChar char="•"/>
                </a:pPr>
                <a:r>
                  <a:rPr lang="en-US" sz="700">
                    <a:solidFill>
                      <a:srgbClr val="000000"/>
                    </a:solidFill>
                    <a:latin typeface="SB Sans Text"/>
                    <a:ea typeface="SB Sans Text"/>
                    <a:cs typeface="SB Sans Text"/>
                  </a:rPr>
                  <a:t>Halting on the first failure gives a </a:t>
                </a:r>
                <a:r>
                  <a:rPr lang="en-US" sz="700">
                    <a:solidFill>
                      <a:srgbClr val="26359A"/>
                    </a:solidFill>
                    <a:latin typeface="SB Sans Text"/>
                    <a:ea typeface="SB Sans Text"/>
                    <a:cs typeface="SB Sans Text"/>
                  </a:rPr>
                  <a:t>sharp capacity boundary</a:t>
                </a:r>
                <a:r>
                  <a:rPr lang="en-US" sz="700">
                    <a:solidFill>
                      <a:srgbClr val="000000"/>
                    </a:solidFill>
                    <a:latin typeface="SB Sans Text"/>
                    <a:ea typeface="SB Sans Text"/>
                    <a:cs typeface="SB Sans Text"/>
                  </a:rPr>
                  <a:t> per sample.</a:t>
                </a:r>
                <a:endParaRPr lang="en-US" sz="700"/>
              </a:p>
              <a:p>
                <a:pPr algn="l" marL="115200" indent="-115200">
                  <a:lnSpc>
                    <a:spcPts val="875"/>
                  </a:lnSpc>
                  <a:spcBef>
                    <a:spcPts val="170"/>
                  </a:spcBef>
                  <a:spcAft>
                    <a:spcPts val="0"/>
                  </a:spcAft>
                  <a:buFont typeface="Arial"/>
                  <a:buChar char="•"/>
                </a:pPr>
                <a:r>
                  <a:rPr lang="en-US" sz="700">
                    <a:solidFill>
                      <a:srgbClr val="26359A"/>
                    </a:solidFill>
                    <a:latin typeface="SB Sans Text"/>
                    <a:ea typeface="SB Sans Text"/>
                    <a:cs typeface="SB Sans Text"/>
                  </a:rPr>
                  <a:t>100% greedy reconstruction</a:t>
                </a:r>
                <a:r>
                  <a:rPr lang="en-US" sz="700">
                    <a:solidFill>
                      <a:srgbClr val="000000"/>
                    </a:solidFill>
                    <a:latin typeface="SB Sans Text"/>
                    <a:ea typeface="SB Sans Text"/>
                    <a:cs typeface="SB Sans Text"/>
                  </a:rPr>
                  <a:t> at every accepted stage.</a:t>
                </a:r>
                <a:endParaRPr lang="en-US" sz="700"/>
              </a:p>
              <a:p>
                <a:pPr algn="l" marL="115200" indent="-115200">
                  <a:lnSpc>
                    <a:spcPts val="875"/>
                  </a:lnSpc>
                  <a:spcBef>
                    <a:spcPts val="170"/>
                  </a:spcBef>
                  <a:spcAft>
                    <a:spcPts val="0"/>
                  </a:spcAft>
                  <a:buFont typeface="Arial"/>
                  <a:buChar char="•"/>
                </a:pPr>
                <a:r>
                  <a:rPr lang="en-US" sz="700">
                    <a:solidFill>
                      <a:srgbClr val="000000"/>
                    </a:solidFill>
                    <a:latin typeface="SB Sans Text"/>
                    <a:ea typeface="SB Sans Text"/>
                    <a:cs typeface="SB Sans Text"/>
                  </a:rPr>
                  <a:t>Saving </a:t>
                </a:r>
                <a14:m>
                  <m:oMath xmlns:m="http://schemas.openxmlformats.org/officeDocument/2006/math">
                    <m:box>
                      <m:e>
                        <m:r>
                          <m:rPr>
                            <m:sty m:val="b"/>
                          </m:rPr>
                          <a:rPr lang="en-US" sz="7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e</m:t>
                        </m:r>
                      </m:e>
                    </m:box>
                  </m:oMath>
                </a14:m>
                <a:r>
                  <a:rPr lang="en-US" sz="700">
                    <a:solidFill>
                      <a:srgbClr val="000000"/>
                    </a:solidFill>
                    <a:latin typeface="SB Sans Text"/>
                    <a:ea typeface="SB Sans Text"/>
                    <a:cs typeface="SB Sans Text"/>
                  </a:rPr>
                  <a:t> after each stage yields the </a:t>
                </a:r>
                <a:r>
                  <a:rPr lang="en-US" sz="700">
                    <a:solidFill>
                      <a:srgbClr val="26359A"/>
                    </a:solidFill>
                    <a:latin typeface="SB Sans Text"/>
                    <a:ea typeface="SB Sans Text"/>
                    <a:cs typeface="SB Sans Text"/>
                  </a:rPr>
                  <a:t>optimisation trajectory</a:t>
                </a:r>
                <a:r>
                  <a:rPr lang="en-US" sz="700">
                    <a:solidFill>
                      <a:srgbClr val="000000"/>
                    </a:solidFill>
                    <a:latin typeface="SB Sans Text"/>
                    <a:ea typeface="SB Sans Text"/>
                    <a:cs typeface="SB Sans Text"/>
                  </a:rPr>
                  <a:t>.</a:t>
                </a:r>
                <a:endParaRPr lang="en-US" sz="700"/>
              </a:p>
            </p:txBody>
          </p:sp>
        </mc:Choice>
        <mc:Fallback>
          <p:sp>
            <p:nvSpPr>
              <p:cNvPr id="35" name="TextBox 34"/>
              <p:cNvSpPr txBox="1"/>
              <p:nvPr/>
            </p:nvSpPr>
            <p:spPr>
              <a:xfrm>
                <a:off x="476250" y="3272135"/>
                <a:ext cx="2826693" cy="48726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 wrap="square" lIns="0" rIns="0" tIns="0" bIns="0" anchor="t">
                <a:noAutofit/>
              </a:bodyPr>
              <a:lstStyle/>
              <a:p/>
            </p:txBody>
          </p:sp>
        </mc:Fallback>
      </mc:AlternateContent>
      <p:sp>
        <p:nvSpPr>
          <p:cNvPr id="36" name="TextBox 35"/>
          <p:cNvSpPr txBox="1"/>
          <p:nvPr/>
        </p:nvSpPr>
        <p:spPr>
          <a:xfrm>
            <a:off x="476250" y="4020741"/>
            <a:ext cx="2826693" cy="2134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000000"/>
                </a:solidFill>
                <a:latin typeface="SB Sans Display"/>
                <a:ea typeface="SB Sans Display"/>
                <a:cs typeface="SB Sans Display"/>
              </a:rPr>
              <a:t>2</a:t>
            </a:r>
            <a:r>
              <a:rPr lang="en-US" sz="1400" b="1">
                <a:solidFill>
                  <a:srgbClr val="000000"/>
                </a:solidFill>
                <a:latin typeface="SB Sans Display"/>
                <a:ea typeface="SB Sans Display"/>
                <a:cs typeface="SB Sans Display"/>
              </a:rPr>
              <a:t> Capacity</a:t>
            </a:r>
            <a:endParaRPr lang="en-US" sz="1400"/>
          </a:p>
        </p:txBody>
      </p:sp>
      <p:sp>
        <p:nvSpPr>
          <p:cNvPr id="37" name="TextBox 36"/>
          <p:cNvSpPr txBox="1"/>
          <p:nvPr/>
        </p:nvSpPr>
        <p:spPr>
          <a:xfrm>
            <a:off x="476250" y="4288036"/>
            <a:ext cx="2826693" cy="33307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SB Sans Text"/>
                <a:ea typeface="SB Sans Text"/>
                <a:cs typeface="SB Sans Text"/>
              </a:rPr>
              <a:t>Longest text a frozen model reconstructs perfectly from a </a:t>
            </a:r>
            <a:r>
              <a:rPr lang="en-US" sz="700">
                <a:solidFill>
                  <a:srgbClr val="000000"/>
                </a:solidFill>
                <a:latin typeface="SB Sans Text Semibold"/>
                <a:ea typeface="SB Sans Text Semibold"/>
                <a:cs typeface="SB Sans Text Semibold"/>
              </a:rPr>
              <a:t>single</a:t>
            </a:r>
            <a:r>
              <a:rPr lang="en-US" sz="700">
                <a:solidFill>
                  <a:srgbClr val="000000"/>
                </a:solidFill>
                <a:latin typeface="SB Sans Text"/>
                <a:ea typeface="SB Sans Text"/>
                <a:cs typeface="SB Sans Text"/>
              </a:rPr>
              <a:t> embedding, with and without a low-dimensional projection:</a:t>
            </a:r>
            <a:endParaRPr lang="en-US" sz="700"/>
          </a:p>
        </p:txBody>
      </p:sp>
      <p:sp>
        <p:nvSpPr>
          <p:cNvPr id="38" name="TextBox 37"/>
          <p:cNvSpPr txBox="1"/>
          <p:nvPr/>
        </p:nvSpPr>
        <p:spPr>
          <a:xfrm>
            <a:off x="476250" y="5547717"/>
            <a:ext cx="2826693" cy="1522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SB Sans Display Semibold"/>
                <a:ea typeface="SB Sans Display Semibold"/>
                <a:cs typeface="SB Sans Display Semibold"/>
              </a:rPr>
              <a:t>Low-dim projection</a:t>
            </a:r>
            <a:endParaRPr lang="en-US" sz="1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/>
              <p:cNvSpPr txBox="1"/>
              <p:nvPr/>
            </p:nvSpPr>
            <p:spPr>
              <a:xfrm>
                <a:off x="476250" y="5753844"/>
                <a:ext cx="2826693" cy="111026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lnSpc>
                    <a:spcPts val="87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700">
                    <a:solidFill>
                      <a:srgbClr val="000000"/>
                    </a:solidFill>
                    <a:latin typeface="SB Sans Text"/>
                    <a:ea typeface="SB Sans Text"/>
                    <a:cs typeface="SB Sans Text"/>
                  </a:rPr>
                  <a:t>Optimise </a:t>
                </a:r>
                <a14:m>
                  <m:oMath xmlns:m="http://schemas.openxmlformats.org/officeDocument/2006/math">
                    <m:box>
                      <m:e>
                        <m:r>
                          <m:rPr>
                            <m:sty m:val="b"/>
                          </m:rPr>
                          <a:rPr lang="en-US" sz="7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z</m:t>
                        </m:r>
                      </m:e>
                    </m:box>
                  </m:oMath>
                </a14:m>
                <a:r>
                  <a:rPr lang="en-US" sz="700">
                    <a:solidFill>
                      <a:srgbClr val="000000"/>
                    </a:solidFill>
                    <a:latin typeface="SB Sans Text"/>
                    <a:ea typeface="SB Sans Text"/>
                    <a:cs typeface="SB Sans Text"/>
                  </a:rPr>
                  <a:t> with a per-sample affine map </a:t>
                </a:r>
                <a14:m>
                  <m:oMath xmlns:m="http://schemas.openxmlformats.org/officeDocument/2006/math">
                    <m:r>
                      <m:rPr>
                        <m:sty m:val="i"/>
                      </m:rPr>
                      <a:rPr lang="en-US" sz="7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W</m:t>
                    </m:r>
                    <m:r>
                      <m:rPr>
                        <m:sty m:val="p"/>
                      </m:rPr>
                      <a:rPr lang="en-US" sz="7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box>
                      <m:e>
                        <m:r>
                          <m:rPr>
                            <m:sty m:val="b"/>
                          </m:rPr>
                          <a:rPr lang="en-US" sz="7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b</m:t>
                        </m:r>
                      </m:e>
                    </m:box>
                  </m:oMath>
                </a14:m>
                <a:r>
                  <a:rPr lang="en-US" sz="700">
                    <a:solidFill>
                      <a:srgbClr val="000000"/>
                    </a:solidFill>
                    <a:latin typeface="SB Sans Text"/>
                    <a:ea typeface="SB Sans Text"/>
                    <a:cs typeface="SB Sans Text"/>
                  </a:rPr>
                  <a:t>:</a:t>
                </a:r>
                <a:endParaRPr lang="en-US" sz="700"/>
              </a:p>
            </p:txBody>
          </p:sp>
        </mc:Choice>
        <mc:Fallback>
          <p:sp>
            <p:nvSpPr>
              <p:cNvPr id="39" name="TextBox 38"/>
              <p:cNvSpPr txBox="1"/>
              <p:nvPr/>
            </p:nvSpPr>
            <p:spPr>
              <a:xfrm>
                <a:off x="476250" y="5753844"/>
                <a:ext cx="2826693" cy="11102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 wrap="none" lIns="0" rIns="0" tIns="0" bIns="0" anchor="t">
                <a:noAutofit/>
              </a:bodyPr>
              <a:lstStyle/>
              <a:p/>
            </p:txBody>
          </p:sp>
        </mc:Fallback>
      </mc:AlternateContent>
      <p:sp>
        <p:nvSpPr>
          <p:cNvPr id="40" name="TextBox 39"/>
          <p:cNvSpPr txBox="1"/>
          <p:nvPr/>
        </p:nvSpPr>
        <p:spPr>
          <a:xfrm>
            <a:off x="476250" y="6570762"/>
            <a:ext cx="2826693" cy="2134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000000"/>
                </a:solidFill>
                <a:latin typeface="SB Sans Display"/>
                <a:ea typeface="SB Sans Display"/>
                <a:cs typeface="SB Sans Display"/>
              </a:rPr>
              <a:t>3</a:t>
            </a:r>
            <a:r>
              <a:rPr lang="en-US" sz="1400" b="1">
                <a:solidFill>
                  <a:srgbClr val="000000"/>
                </a:solidFill>
                <a:latin typeface="SB Sans Display"/>
                <a:ea typeface="SB Sans Display"/>
                <a:cs typeface="SB Sans Display"/>
              </a:rPr>
              <a:t> Trajectories</a:t>
            </a:r>
            <a:endParaRPr lang="en-US" sz="1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/>
              <p:cNvSpPr txBox="1"/>
              <p:nvPr/>
            </p:nvSpPr>
            <p:spPr>
              <a:xfrm>
                <a:off x="476250" y="6838057"/>
                <a:ext cx="2826693" cy="591741"/>
              </a:xfrm>
              <a:prstGeom prst="rect">
                <a:avLst/>
              </a:prstGeom>
              <a:noFill/>
            </p:spPr>
            <p:txBody>
              <a:bodyPr wrap="square" lIns="0" rIns="0" tIns="0" bIns="0" anchor="t">
                <a:noAutofit/>
              </a:bodyPr>
              <a:lstStyle/>
              <a:p>
                <a:pPr algn="l" marL="115200" indent="-115200">
                  <a:lnSpc>
                    <a:spcPts val="875"/>
                  </a:lnSpc>
                  <a:spcBef>
                    <a:spcPts val="0"/>
                  </a:spcBef>
                  <a:spcAft>
                    <a:spcPts val="0"/>
                  </a:spcAft>
                  <a:buFont typeface="Arial"/>
                  <a:buChar char="•"/>
                </a:pPr>
                <a:r>
                  <a:rPr lang="en-US" sz="700">
                    <a:solidFill>
                      <a:srgbClr val="000000"/>
                    </a:solidFill>
                    <a:latin typeface="SB Sans Text"/>
                    <a:ea typeface="SB Sans Text"/>
                    <a:cs typeface="SB Sans Text"/>
                  </a:rPr>
                  <a:t>Trajectories are </a:t>
                </a:r>
                <a:r>
                  <a:rPr lang="en-US" sz="700">
                    <a:solidFill>
                      <a:srgbClr val="26359A"/>
                    </a:solidFill>
                    <a:latin typeface="SB Sans Text"/>
                    <a:ea typeface="SB Sans Text"/>
                    <a:cs typeface="SB Sans Text"/>
                  </a:rPr>
                  <a:t>intrinsically low-dimensional</a:t>
                </a:r>
                <a:r>
                  <a:rPr lang="en-US" sz="700">
                    <a:solidFill>
                      <a:srgbClr val="000000"/>
                    </a:solidFill>
                    <a:latin typeface="SB Sans Text"/>
                    <a:ea typeface="SB Sans Text"/>
                    <a:cs typeface="SB Sans Text"/>
                  </a:rPr>
                  <a:t>: 30–100 PCA components explain 99% of the variance, although they live in </a:t>
                </a:r>
                <a14:m>
                  <m:oMath xmlns:m="http://schemas.openxmlformats.org/officeDocument/2006/math">
                    <m:sSup>
                      <m:e>
                        <m:box>
                          <m:e>
                            <m:r>
                              <m:rPr>
                                <m:scr m:val="double-struck"/>
                                <m:sty m:val="i"/>
                              </m:rPr>
                              <a:rPr lang="en-US" sz="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R</m:t>
                            </m:r>
                          </m:e>
                        </m:box>
                      </m:e>
                      <m:sup>
                        <m:box>
                          <m:e>
                            <m:r>
                              <m:rPr>
                                <m:sty m:val="p"/>
                              </m:rPr>
                              <a:rPr lang="en-US" sz="7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4096</m:t>
                            </m:r>
                          </m:e>
                        </m:box>
                      </m:sup>
                    </m:sSup>
                  </m:oMath>
                </a14:m>
                <a:r>
                  <a:rPr lang="en-US" sz="700">
                    <a:solidFill>
                      <a:srgbClr val="000000"/>
                    </a:solidFill>
                    <a:latin typeface="SB Sans Text"/>
                    <a:ea typeface="SB Sans Text"/>
                    <a:cs typeface="SB Sans Text"/>
                  </a:rPr>
                  <a:t>.</a:t>
                </a:r>
                <a:endParaRPr lang="en-US" sz="700"/>
              </a:p>
              <a:p>
                <a:pPr algn="l" marL="115200" indent="-115200">
                  <a:lnSpc>
                    <a:spcPts val="875"/>
                  </a:lnSpc>
                  <a:spcBef>
                    <a:spcPts val="170"/>
                  </a:spcBef>
                  <a:spcAft>
                    <a:spcPts val="0"/>
                  </a:spcAft>
                  <a:buFont typeface="Arial"/>
                  <a:buChar char="•"/>
                </a:pPr>
                <a:r>
                  <a:rPr lang="en-US" sz="700">
                    <a:solidFill>
                      <a:srgbClr val="000000"/>
                    </a:solidFill>
                    <a:latin typeface="SB Sans Text"/>
                    <a:ea typeface="SB Sans Text"/>
                    <a:cs typeface="SB Sans Text"/>
                  </a:rPr>
                  <a:t>Accuracy basins </a:t>
                </a:r>
                <a:r>
                  <a:rPr lang="en-US" sz="700">
                    <a:solidFill>
                      <a:srgbClr val="26359A"/>
                    </a:solidFill>
                    <a:latin typeface="SB Sans Text"/>
                    <a:ea typeface="SB Sans Text"/>
                    <a:cs typeface="SB Sans Text"/>
                  </a:rPr>
                  <a:t>shrink</a:t>
                </a:r>
                <a:r>
                  <a:rPr lang="en-US" sz="700">
                    <a:solidFill>
                      <a:srgbClr val="000000"/>
                    </a:solidFill>
                    <a:latin typeface="SB Sans Text"/>
                    <a:ea typeface="SB Sans Text"/>
                    <a:cs typeface="SB Sans Text"/>
                  </a:rPr>
                  <a:t> with sequence length — longer texts leave less room for error.</a:t>
                </a:r>
                <a:endParaRPr lang="en-US" sz="700"/>
              </a:p>
            </p:txBody>
          </p:sp>
        </mc:Choice>
        <mc:Fallback>
          <p:sp>
            <p:nvSpPr>
              <p:cNvPr id="41" name="TextBox 40"/>
              <p:cNvSpPr txBox="1"/>
              <p:nvPr/>
            </p:nvSpPr>
            <p:spPr>
              <a:xfrm>
                <a:off x="476250" y="6838057"/>
                <a:ext cx="2826693" cy="59174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 wrap="square" lIns="0" rIns="0" tIns="0" bIns="0" anchor="t">
                <a:noAutofit/>
              </a:bodyPr>
              <a:lstStyle/>
              <a:p/>
            </p:txBody>
          </p:sp>
        </mc:Fallback>
      </mc:AlternateContent>
      <p:sp>
        <p:nvSpPr>
          <p:cNvPr id="42" name="TextBox 41"/>
          <p:cNvSpPr txBox="1"/>
          <p:nvPr/>
        </p:nvSpPr>
        <p:spPr>
          <a:xfrm>
            <a:off x="476250" y="8645128"/>
            <a:ext cx="2826693" cy="2220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SB Sans Text"/>
                <a:ea typeface="SB Sans Text"/>
                <a:cs typeface="SB Sans Text"/>
              </a:rPr>
              <a:t>Llama-3.1-8B</a:t>
            </a:r>
            <a:r>
              <a:rPr lang="en-US" sz="700">
                <a:solidFill>
                  <a:srgbClr val="000000"/>
                </a:solidFill>
                <a:latin typeface="SB Sans Text"/>
                <a:ea typeface="SB Sans Text"/>
                <a:cs typeface="SB Sans Text"/>
              </a:rPr>
              <a:t> trajectory on PC1–PC2 (65.7% of variance); coloured regions are local accuracy basins.</a:t>
            </a:r>
            <a:endParaRPr lang="en-US" sz="700"/>
          </a:p>
        </p:txBody>
      </p:sp>
      <p:sp>
        <p:nvSpPr>
          <p:cNvPr id="43" name="TextBox 42"/>
          <p:cNvSpPr txBox="1"/>
          <p:nvPr/>
        </p:nvSpPr>
        <p:spPr>
          <a:xfrm>
            <a:off x="3554909" y="1425476"/>
            <a:ext cx="2826841" cy="2134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000000"/>
                </a:solidFill>
                <a:latin typeface="SB Sans Display"/>
                <a:ea typeface="SB Sans Display"/>
                <a:cs typeface="SB Sans Display"/>
              </a:rPr>
              <a:t>4</a:t>
            </a:r>
            <a:r>
              <a:rPr lang="en-US" sz="1400" b="1">
                <a:solidFill>
                  <a:srgbClr val="000000"/>
                </a:solidFill>
                <a:latin typeface="SB Sans Display"/>
                <a:ea typeface="SB Sans Display"/>
                <a:cs typeface="SB Sans Display"/>
              </a:rPr>
              <a:t> Understanding</a:t>
            </a:r>
            <a:endParaRPr lang="en-US" sz="1400"/>
          </a:p>
        </p:txBody>
      </p:sp>
      <p:sp>
        <p:nvSpPr>
          <p:cNvPr id="44" name="TextBox 43"/>
          <p:cNvSpPr txBox="1"/>
          <p:nvPr/>
        </p:nvSpPr>
        <p:spPr>
          <a:xfrm>
            <a:off x="3554909" y="2212181"/>
            <a:ext cx="2826841" cy="2220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SB Sans Text"/>
                <a:ea typeface="SB Sans Text"/>
                <a:cs typeface="SB Sans Text"/>
              </a:rPr>
              <a:t>Prepending a crammed embedding </a:t>
            </a:r>
            <a:r>
              <a:rPr lang="en-US" sz="700">
                <a:solidFill>
                  <a:srgbClr val="C0392B"/>
                </a:solidFill>
                <a:latin typeface="SB Sans Text"/>
                <a:ea typeface="SB Sans Text"/>
                <a:cs typeface="SB Sans Text"/>
              </a:rPr>
              <a:t>drops</a:t>
            </a:r>
            <a:r>
              <a:rPr lang="en-US" sz="700">
                <a:solidFill>
                  <a:srgbClr val="000000"/>
                </a:solidFill>
                <a:latin typeface="SB Sans Text"/>
                <a:ea typeface="SB Sans Text"/>
                <a:cs typeface="SB Sans Text"/>
              </a:rPr>
              <a:t> benchmark accuracy even with the original prefix in context:</a:t>
            </a:r>
            <a:endParaRPr lang="en-US" sz="700"/>
          </a:p>
        </p:txBody>
      </p:sp>
      <p:sp>
        <p:nvSpPr>
          <p:cNvPr id="45" name="TextBox 44"/>
          <p:cNvSpPr txBox="1"/>
          <p:nvPr/>
        </p:nvSpPr>
        <p:spPr>
          <a:xfrm>
            <a:off x="3554909" y="3197126"/>
            <a:ext cx="2826841" cy="33307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SB Sans Text"/>
                <a:ea typeface="SB Sans Text"/>
                <a:cs typeface="SB Sans Text"/>
              </a:rPr>
              <a:t>On </a:t>
            </a:r>
            <a:r>
              <a:rPr lang="en-US" sz="700">
                <a:solidFill>
                  <a:srgbClr val="000000"/>
                </a:solidFill>
                <a:latin typeface="SB Sans Text Semibold"/>
                <a:ea typeface="SB Sans Text Semibold"/>
                <a:cs typeface="SB Sans Text Semibold"/>
              </a:rPr>
              <a:t>generative 5-shot MMLU</a:t>
            </a:r>
            <a:r>
              <a:rPr lang="en-US" sz="700">
                <a:solidFill>
                  <a:srgbClr val="000000"/>
                </a:solidFill>
                <a:latin typeface="SB Sans Text"/>
                <a:ea typeface="SB Sans Text"/>
                <a:cs typeface="SB Sans Text"/>
              </a:rPr>
              <a:t> accuracy falls to </a:t>
            </a:r>
            <a:r>
              <a:rPr lang="en-US" sz="700">
                <a:solidFill>
                  <a:srgbClr val="C0392B"/>
                </a:solidFill>
                <a:latin typeface="SB Sans Text"/>
                <a:ea typeface="SB Sans Text"/>
                <a:cs typeface="SB Sans Text"/>
              </a:rPr>
              <a:t>≈0%</a:t>
            </a:r>
            <a:r>
              <a:rPr lang="en-US" sz="700">
                <a:solidFill>
                  <a:srgbClr val="000000"/>
                </a:solidFill>
                <a:latin typeface="SB Sans Text"/>
                <a:ea typeface="SB Sans Text"/>
                <a:cs typeface="SB Sans Text"/>
              </a:rPr>
              <a:t> with the optimised embedding, while a random-embedding control stays at the baseline.</a:t>
            </a:r>
            <a:endParaRPr lang="en-US" sz="700"/>
          </a:p>
        </p:txBody>
      </p:sp>
      <p:sp>
        <p:nvSpPr>
          <p:cNvPr id="46" name="TextBox 45"/>
          <p:cNvSpPr txBox="1"/>
          <p:nvPr/>
        </p:nvSpPr>
        <p:spPr>
          <a:xfrm>
            <a:off x="3554909" y="3791545"/>
            <a:ext cx="2826841" cy="2134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000000"/>
                </a:solidFill>
                <a:latin typeface="SB Sans Display"/>
                <a:ea typeface="SB Sans Display"/>
                <a:cs typeface="SB Sans Display"/>
              </a:rPr>
              <a:t>5</a:t>
            </a:r>
            <a:r>
              <a:rPr lang="en-US" sz="1400" b="1">
                <a:solidFill>
                  <a:srgbClr val="000000"/>
                </a:solidFill>
                <a:latin typeface="SB Sans Display"/>
                <a:ea typeface="SB Sans Display"/>
                <a:cs typeface="SB Sans Display"/>
              </a:rPr>
              <a:t> Attention knockout</a:t>
            </a:r>
            <a:endParaRPr lang="en-US" sz="1400"/>
          </a:p>
        </p:txBody>
      </p:sp>
      <p:sp>
        <p:nvSpPr>
          <p:cNvPr id="47" name="TextBox 46"/>
          <p:cNvSpPr txBox="1"/>
          <p:nvPr/>
        </p:nvSpPr>
        <p:spPr>
          <a:xfrm>
            <a:off x="3554909" y="4998690"/>
            <a:ext cx="2826841" cy="33307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SB Sans Text"/>
                <a:ea typeface="SB Sans Text"/>
                <a:cs typeface="SB Sans Text"/>
              </a:rPr>
              <a:t>Llama-3.1-8B.</a:t>
            </a:r>
            <a:r>
              <a:rPr lang="en-US" sz="700">
                <a:solidFill>
                  <a:srgbClr val="000000"/>
                </a:solidFill>
                <a:latin typeface="SB Sans Text"/>
                <a:ea typeface="SB Sans Text"/>
                <a:cs typeface="SB Sans Text"/>
              </a:rPr>
              <a:t> Forward knockout (masking early layers first) restores downstream accuracy, while reverse knockout fails until the early layers are masked too.</a:t>
            </a:r>
            <a:endParaRPr lang="en-US" sz="700"/>
          </a:p>
        </p:txBody>
      </p:sp>
      <p:sp>
        <p:nvSpPr>
          <p:cNvPr id="48" name="TextBox 47"/>
          <p:cNvSpPr txBox="1"/>
          <p:nvPr/>
        </p:nvSpPr>
        <p:spPr>
          <a:xfrm>
            <a:off x="3554909" y="5385643"/>
            <a:ext cx="2826841" cy="4441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26359A"/>
                </a:solidFill>
                <a:latin typeface="SB Sans Text"/>
                <a:ea typeface="SB Sans Text"/>
                <a:cs typeface="SB Sans Text"/>
              </a:rPr>
              <a:t>Early layers</a:t>
            </a:r>
            <a:r>
              <a:rPr lang="en-US" sz="700">
                <a:solidFill>
                  <a:srgbClr val="000000"/>
                </a:solidFill>
                <a:latin typeface="SB Sans Text"/>
                <a:ea typeface="SB Sans Text"/>
                <a:cs typeface="SB Sans Text"/>
              </a:rPr>
              <a:t> drive both the reconstruction and the capability collapse; the 20–60% late-layer attention mass is a symptom. The pattern holds for Llama-3.1-8B, Pythia-1.4B and SmolLM2-1.7B.</a:t>
            </a:r>
            <a:endParaRPr lang="en-US" sz="700"/>
          </a:p>
        </p:txBody>
      </p:sp>
      <p:sp>
        <p:nvSpPr>
          <p:cNvPr id="49" name="TextBox 48"/>
          <p:cNvSpPr txBox="1"/>
          <p:nvPr/>
        </p:nvSpPr>
        <p:spPr>
          <a:xfrm>
            <a:off x="3554909" y="6091089"/>
            <a:ext cx="2826841" cy="2134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000000"/>
                </a:solidFill>
                <a:latin typeface="SB Sans Display"/>
                <a:ea typeface="SB Sans Display"/>
                <a:cs typeface="SB Sans Display"/>
              </a:rPr>
              <a:t>6</a:t>
            </a:r>
            <a:r>
              <a:rPr lang="en-US" sz="1400" b="1">
                <a:solidFill>
                  <a:srgbClr val="000000"/>
                </a:solidFill>
                <a:latin typeface="SB Sans Display"/>
                <a:ea typeface="SB Sans Display"/>
                <a:cs typeface="SB Sans Display"/>
              </a:rPr>
              <a:t> Full cramming</a:t>
            </a:r>
            <a:endParaRPr lang="en-US" sz="1400"/>
          </a:p>
        </p:txBody>
      </p:sp>
      <p:sp>
        <p:nvSpPr>
          <p:cNvPr id="50" name="TextBox 49"/>
          <p:cNvSpPr txBox="1"/>
          <p:nvPr/>
        </p:nvSpPr>
        <p:spPr>
          <a:xfrm>
            <a:off x="3554909" y="6358384"/>
            <a:ext cx="2826841" cy="5551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SB Sans Text"/>
                <a:ea typeface="SB Sans Text"/>
                <a:cs typeface="SB Sans Text"/>
              </a:rPr>
              <a:t>Full cramming fixes the </a:t>
            </a:r>
            <a:r>
              <a:rPr lang="en-US" sz="700">
                <a:solidFill>
                  <a:srgbClr val="26359A"/>
                </a:solidFill>
                <a:latin typeface="SB Sans Text"/>
                <a:ea typeface="SB Sans Text"/>
                <a:cs typeface="SB Sans Text"/>
              </a:rPr>
              <a:t>number of tokens</a:t>
            </a:r>
            <a:r>
              <a:rPr lang="en-US" sz="700">
                <a:solidFill>
                  <a:srgbClr val="000000"/>
                </a:solidFill>
                <a:latin typeface="SB Sans Text"/>
                <a:ea typeface="SB Sans Text"/>
                <a:cs typeface="SB Sans Text"/>
              </a:rPr>
              <a:t> and optimises them jointly; progressive cramming fixes </a:t>
            </a:r>
            <a:r>
              <a:rPr lang="en-US" sz="700">
                <a:solidFill>
                  <a:srgbClr val="26359A"/>
                </a:solidFill>
                <a:latin typeface="SB Sans Text"/>
                <a:ea typeface="SB Sans Text"/>
                <a:cs typeface="SB Sans Text"/>
              </a:rPr>
              <a:t>accuracy at 100%</a:t>
            </a:r>
            <a:r>
              <a:rPr lang="en-US" sz="700">
                <a:solidFill>
                  <a:srgbClr val="000000"/>
                </a:solidFill>
                <a:latin typeface="SB Sans Text"/>
                <a:ea typeface="SB Sans Text"/>
                <a:cs typeface="SB Sans Text"/>
              </a:rPr>
              <a:t> and grows the text. Full cramming reaches more tokens, but its residual errors sit at </a:t>
            </a:r>
            <a:r>
              <a:rPr lang="en-US" sz="700">
                <a:solidFill>
                  <a:srgbClr val="C0392B"/>
                </a:solidFill>
                <a:latin typeface="SB Sans Text"/>
                <a:ea typeface="SB Sans Text"/>
                <a:cs typeface="SB Sans Text"/>
              </a:rPr>
              <a:t>early positions</a:t>
            </a:r>
            <a:r>
              <a:rPr lang="en-US" sz="700">
                <a:solidFill>
                  <a:srgbClr val="000000"/>
                </a:solidFill>
                <a:latin typeface="SB Sans Text"/>
                <a:ea typeface="SB Sans Text"/>
                <a:cs typeface="SB Sans Text"/>
              </a:rPr>
              <a:t>, and one early miss cascades through greedy generation:</a:t>
            </a:r>
            <a:endParaRPr lang="en-US" sz="700"/>
          </a:p>
        </p:txBody>
      </p:sp>
      <p:sp>
        <p:nvSpPr>
          <p:cNvPr id="51" name="TextBox 50"/>
          <p:cNvSpPr txBox="1"/>
          <p:nvPr/>
        </p:nvSpPr>
        <p:spPr>
          <a:xfrm>
            <a:off x="489645" y="9362926"/>
            <a:ext cx="2155785" cy="2131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aseline="30000">
                <a:solidFill>
                  <a:srgbClr val="FFFFFF"/>
                </a:solidFill>
                <a:latin typeface="SB Sans Display Light"/>
                <a:ea typeface="SB Sans Display Light"/>
                <a:cs typeface="SB Sans Display Light"/>
              </a:rPr>
              <a:t>1</a:t>
            </a:r>
            <a:r>
              <a:rPr lang="en-US" sz="700">
                <a:solidFill>
                  <a:srgbClr val="FFFFFF"/>
                </a:solidFill>
                <a:latin typeface="SB Sans Display Light"/>
                <a:ea typeface="SB Sans Display Light"/>
                <a:cs typeface="SB Sans Display Light"/>
              </a:rPr>
              <a:t> AIRI, </a:t>
            </a:r>
            <a:r>
              <a:rPr lang="en-US" sz="700" baseline="30000">
                <a:solidFill>
                  <a:srgbClr val="FFFFFF"/>
                </a:solidFill>
                <a:latin typeface="SB Sans Display Light"/>
                <a:ea typeface="SB Sans Display Light"/>
                <a:cs typeface="SB Sans Display Light"/>
              </a:rPr>
              <a:t>2</a:t>
            </a:r>
            <a:r>
              <a:rPr lang="en-US" sz="700">
                <a:solidFill>
                  <a:srgbClr val="FFFFFF"/>
                </a:solidFill>
                <a:latin typeface="SB Sans Display Light"/>
                <a:ea typeface="SB Sans Display Light"/>
                <a:cs typeface="SB Sans Display Light"/>
              </a:rPr>
              <a:t> HSE University,</a:t>
            </a:r>
            <a:br>
              <a:rPr lang="en-US" sz="700"/>
            </a:br>
            <a:r>
              <a:rPr lang="en-US" sz="700" baseline="30000">
                <a:solidFill>
                  <a:srgbClr val="FFFFFF"/>
                </a:solidFill>
                <a:latin typeface="SB Sans Display Light"/>
                <a:ea typeface="SB Sans Display Light"/>
                <a:cs typeface="SB Sans Display Light"/>
              </a:rPr>
              <a:t>3</a:t>
            </a:r>
            <a:r>
              <a:rPr lang="en-US" sz="700">
                <a:solidFill>
                  <a:srgbClr val="FFFFFF"/>
                </a:solidFill>
                <a:latin typeface="SB Sans Display Light"/>
                <a:ea typeface="SB Sans Display Light"/>
                <a:cs typeface="SB Sans Display Light"/>
              </a:rPr>
              <a:t> Innopolis University</a:t>
            </a:r>
            <a:endParaRPr lang="en-US" sz="700"/>
          </a:p>
        </p:txBody>
      </p:sp>
      <p:sp>
        <p:nvSpPr>
          <p:cNvPr id="52" name="TextBox 51"/>
          <p:cNvSpPr txBox="1"/>
          <p:nvPr/>
        </p:nvSpPr>
        <p:spPr>
          <a:xfrm>
            <a:off x="489645" y="9611916"/>
            <a:ext cx="2155785" cy="10656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FFFFFF"/>
                </a:solidFill>
                <a:latin typeface="SB Sans Display Light"/>
                <a:ea typeface="SB Sans Display Light"/>
                <a:cs typeface="SB Sans Display Light"/>
              </a:rPr>
              <a:t>Group contact: dtarasov@hse.ru</a:t>
            </a:r>
            <a:endParaRPr lang="en-US" sz="7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/>
              <p:cNvSpPr txBox="1"/>
              <p:nvPr/>
            </p:nvSpPr>
            <p:spPr>
              <a:xfrm>
                <a:off x="548134" y="6050756"/>
                <a:ext cx="2682925" cy="126653"/>
              </a:xfrm>
              <a:prstGeom prst="rect">
                <a:avLst/>
              </a:prstGeom>
              <a:noFill/>
            </p:spPr>
            <p:txBody>
              <a:bodyPr wrap="square" lIns="0" rIns="0" tIns="0" bIns="0" anchor="t">
                <a:noAutofit/>
              </a:bodyPr>
              <a:lstStyle/>
              <a:p>
                <a:pPr algn="ctr">
                  <a:buNone/>
                </a:pPr>
                <a14:m>
                  <ns0:oMathPara xmlns:ns0="http://schemas.openxmlformats.org/officeDocument/2006/math">
                    <ns0:oMathParaPr>
                      <ns0:jc ns0:val="centerGroup"/>
                    </ns0:oMathParaPr>
                    <ns0:oMath>
                      <ns0:box>
                        <ns0:e>
                          <ns0:r>
                            <ns0:rPr>
                              <ns0:sty ns0:val="b"/>
                            </ns0:rPr>
                            <a:rPr lang="en-US" sz="700" b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ns0:t>e</ns0:t>
                          </ns0:r>
                        </ns0:e>
                      </ns0:box>
                      <ns0:r>
                        <ns0:rPr>
                          <ns0:sty ns0:val="p"/>
                        </ns0:rPr>
                        <a:rPr lang="en-US" sz="7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ns0:t>=</ns0:t>
                      </ns0:r>
                      <ns0:r>
                        <ns0:rPr>
                          <ns0:sty ns0:val="i"/>
                        </ns0:rPr>
                        <a:rPr lang="en-US" sz="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ns0:t>W</ns0:t>
                      </ns0:r>
                      <ns0:box>
                        <ns0:e>
                          <ns0:r>
                            <ns0:rPr>
                              <ns0:sty ns0:val="b"/>
                            </ns0:rPr>
                            <a:rPr lang="en-US" sz="700" b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ns0:t>z</ns0:t>
                          </ns0:r>
                        </ns0:e>
                      </ns0:box>
                      <ns0:r>
                        <ns0:rPr>
                          <ns0:sty ns0:val="p"/>
                        </ns0:rPr>
                        <a:rPr lang="en-US" sz="7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ns0:t>+</ns0:t>
                      </ns0:r>
                      <ns0:box>
                        <ns0:e>
                          <ns0:r>
                            <ns0:rPr>
                              <ns0:sty ns0:val="b"/>
                            </ns0:rPr>
                            <a:rPr lang="en-US" sz="700" b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ns0:t>b</ns0:t>
                          </ns0:r>
                        </ns0:e>
                      </ns0:box>
                      <ns0:r>
                        <ns0:rPr>
                          <ns0:sty ns0:val="p"/>
                        </ns0:rPr>
                        <a:rPr lang="en-US" sz="7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ns0:t>∈</ns0:t>
                      </ns0:r>
                      <ns0:sSup>
                        <ns0:e>
                          <ns0:box>
                            <ns0:e>
                              <ns0:r>
                                <ns0:rPr>
                                  <ns0:scr ns0:val="double-struck"/>
                                  <ns0:sty ns0:val="i"/>
                                </ns0:rPr>
                                <a:rPr lang="en-US" sz="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ns0:t>R</ns0:t>
                              </ns0:r>
                            </ns0:e>
                          </ns0:box>
                        </ns0:e>
                        <ns0:sup>
                          <ns0:r>
                            <ns0:rPr>
                              <ns0:sty ns0:val="i"/>
                            </ns0:rPr>
                            <a:rPr lang="en-US" sz="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ns0:t>d</ns0:t>
                          </ns0:r>
                        </ns0:sup>
                      </ns0:sSup>
                      <ns0:r>
                        <ns0:rPr>
                          <ns0:sty ns0:val="p"/>
                        </ns0:rPr>
                        <a:rPr lang="en-US" sz="7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ns0:t>,</ns0:t>
                      </ns0:r>
                      <ns0:box>
                        <ns0:e>
                          <ns0:r>
                            <a:rPr lang="en-US" sz="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ns0:t/>
                          </ns0:r>
                        </ns0:e>
                      </ns0:box>
                      <ns0:box>
                        <ns0:e>
                          <ns0:r>
                            <ns0:rPr>
                              <ns0:sty ns0:val="b"/>
                            </ns0:rPr>
                            <a:rPr lang="en-US" sz="700" b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ns0:t>z</ns0:t>
                          </ns0:r>
                        </ns0:e>
                      </ns0:box>
                      <ns0:r>
                        <ns0:rPr>
                          <ns0:sty ns0:val="p"/>
                        </ns0:rPr>
                        <a:rPr lang="en-US" sz="7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ns0:t>∈</ns0:t>
                      </ns0:r>
                      <ns0:sSup>
                        <ns0:e>
                          <ns0:box>
                            <ns0:e>
                              <ns0:r>
                                <ns0:rPr>
                                  <ns0:scr ns0:val="double-struck"/>
                                  <ns0:sty ns0:val="i"/>
                                </ns0:rPr>
                                <a:rPr lang="en-US" sz="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ns0:t>R</ns0:t>
                              </ns0:r>
                            </ns0:e>
                          </ns0:box>
                        </ns0:e>
                        <ns0:sup>
                          <ns0:r>
                            <ns0:rPr>
                              <ns0:sty ns0:val="i"/>
                            </ns0:rPr>
                            <a:rPr lang="en-US" sz="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ns0:t>k</ns0:t>
                          </ns0:r>
                        </ns0:sup>
                      </ns0:sSup>
                      <ns0:r>
                        <ns0:rPr>
                          <ns0:sty ns0:val="p"/>
                        </ns0:rPr>
                        <a:rPr lang="en-US" sz="7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ns0:t>,</ns0:t>
                      </ns0:r>
                      <ns0:box>
                        <ns0:e>
                          <ns0:r>
                            <a:rPr lang="en-US" sz="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ns0:t/>
                          </ns0:r>
                        </ns0:e>
                      </ns0:box>
                      <ns0:r>
                        <ns0:rPr>
                          <ns0:sty ns0:val="i"/>
                        </ns0:rPr>
                        <a:rPr lang="en-US" sz="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ns0:t>k</ns0:t>
                      </ns0:r>
                      <ns0:r>
                        <ns0:rPr>
                          <ns0:sty ns0:val="p"/>
                        </ns0:rPr>
                        <a:rPr lang="en-US" sz="7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ns0:t>≪</ns0:t>
                      </ns0:r>
                      <ns0:r>
                        <ns0:rPr>
                          <ns0:sty ns0:val="i"/>
                        </ns0:rPr>
                        <a:rPr lang="en-US" sz="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ns0:t>d</ns0:t>
                      </ns0:r>
                    </ns0:oMath>
                  </ns0:oMathPara>
                </a14:m>
                <a:endParaRPr lang="en-US" sz="700"/>
              </a:p>
            </p:txBody>
          </p:sp>
        </mc:Choice>
        <mc:Fallback>
          <p:sp>
            <p:nvSpPr>
              <p:cNvPr id="53" name="TextBox 52"/>
              <p:cNvSpPr txBox="1"/>
              <p:nvPr/>
            </p:nvSpPr>
            <p:spPr>
              <a:xfrm>
                <a:off x="548134" y="6050756"/>
                <a:ext cx="2682925" cy="126653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 wrap="square" lIns="0" rIns="0" tIns="0" bIns="0" anchor="t">
                <a:noAutofit/>
              </a:bodyPr>
              <a:lstStyle/>
              <a:p/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129787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Тема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877</TotalTime>
  <Words>163</Words>
  <Application>Microsoft Macintosh PowerPoint</Application>
  <PresentationFormat>Произвольный</PresentationFormat>
  <Paragraphs>13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SB Sans Display Semibold</vt:lpstr>
      <vt:lpstr>Arial</vt:lpstr>
      <vt:lpstr>SB Sans Display</vt:lpstr>
      <vt:lpstr>Aptos Display</vt:lpstr>
      <vt:lpstr>Aptos</vt:lpstr>
      <vt:lpstr>SB Sans Text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Михаил  Балуев</dc:creator>
  <cp:lastModifiedBy>Дроздова Елена Васильевна</cp:lastModifiedBy>
  <cp:revision>18</cp:revision>
  <dcterms:created xsi:type="dcterms:W3CDTF">2024-09-23T17:12:44Z</dcterms:created>
  <dcterms:modified xsi:type="dcterms:W3CDTF">2026-09-24T10:08:31Z</dcterms:modified>
</cp:coreProperties>
</file>